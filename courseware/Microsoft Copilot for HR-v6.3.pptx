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ACB8C4"/>
            </a:solidFill>
          </c:spPr>
          <c:cat>
            <c:strRef>
              <c:f>Sheet1!$A$2:$A$6</c:f>
              <c:strCache>
                <c:ptCount val="5"/>
                <c:pt idx="0">
                  <c:v>Cycle time</c:v>
                </c:pt>
                <c:pt idx="1">
                  <c:v>Accuracy</c:v>
                </c:pt>
                <c:pt idx="2">
                  <c:v>Adoption</c:v>
                </c:pt>
                <c:pt idx="3">
                  <c:v>Trust</c:v>
                </c:pt>
                <c:pt idx="4">
                  <c:v>Control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72</c:v>
                </c:pt>
                <c:pt idx="2">
                  <c:v>35</c:v>
                </c:pt>
                <c:pt idx="3">
                  <c:v>68</c:v>
                </c:pt>
                <c:pt idx="4">
                  <c:v>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Pilot target</c:v>
                </c:pt>
              </c:strCache>
            </c:strRef>
          </c:tx>
          <c:spPr>
            <a:solidFill>
              <a:srgbClr val="238C5C"/>
            </a:solidFill>
          </c:spPr>
          <c:cat>
            <c:strRef>
              <c:f>Sheet1!$A$2:$A$6</c:f>
              <c:strCache>
                <c:ptCount val="5"/>
                <c:pt idx="0">
                  <c:v>Cycle time</c:v>
                </c:pt>
                <c:pt idx="1">
                  <c:v>Accuracy</c:v>
                </c:pt>
                <c:pt idx="2">
                  <c:v>Adoption</c:v>
                </c:pt>
                <c:pt idx="3">
                  <c:v>Trust</c:v>
                </c:pt>
                <c:pt idx="4">
                  <c:v>Control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70</c:v>
                </c:pt>
                <c:pt idx="1">
                  <c:v>90</c:v>
                </c:pt>
                <c:pt idx="2">
                  <c:v>65</c:v>
                </c:pt>
                <c:pt idx="3">
                  <c:v>80</c:v>
                </c:pt>
                <c:pt idx="4">
                  <c:v>92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2226939960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https://www.tertiarycourses.com.sg/wsq-microsoft-copilot-for-hr.html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https://exams.tertiaryinfotech.com/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https://www.ibm.com/think/topics/ai-in-hr</a:t>
            </a:r>
          </a:p>
          <a:p>
            <a:r>
              <a:t>https://www.zendesk.com/blog/ai/workflow-automation/ai-in-hr/</a:t>
            </a:r>
          </a:p>
          <a:p>
            <a:r>
              <a:t>AI Revolution in Human Resources: Transforming HR Management with Artificial Intelligence (2023 user-supplied ebook)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Deloitte, The Future of HR, Powered by AI (user-supplied reference deck)</a:t>
            </a:r>
          </a:p>
          <a:p>
            <a:r>
              <a:t>https://www.mckinsey.com/capabilities/people-and-organizational-performance/our-insights/the-organization-blog/four-ways-to-start-using-generative-ai-in-hr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Deloitte, The Future of HR, Powered by AI (user-supplied reference deck)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https://www.ibm.com/think/topics/ai-agents-in-human-resources</a:t>
            </a:r>
          </a:p>
          <a:p>
            <a:r>
              <a:t>https://www.hrci.org/community/blogs-and-announcements/hr-leads-business-blog/hr-leads-business/2025/08/21/agentic-ai-in-hr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Deloitte, The Future of HR, Powered by AI (user-supplied reference deck)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Deloitte, The Future of HR, Powered by AI (user-supplied reference deck)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https://www.ibm.com/think/topics/ai-in-hr</a:t>
            </a:r>
          </a:p>
          <a:p>
            <a:r>
              <a:t>https://www.zendesk.com/blog/ai/workflow-automation/ai-in-hr/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https://www.microsoft.com/en-us/microsoft-copilot/copilot-101/ai-for-hr</a:t>
            </a:r>
          </a:p>
          <a:p>
            <a:r>
              <a:t>https://www.mckinsey.com/capabilities/people-and-organizational-performance/our-insights/the-organization-blog/four-ways-to-start-using-generative-ai-in-hr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https://www.ibm.com/think/topics/ai-agents-in-human-resources</a:t>
            </a:r>
          </a:p>
          <a:p>
            <a:r>
              <a:t>https://www.moveworks.com/us/en/resources/blog/agentic-ai-in-hr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https://www.strategyand.pwc.com/de/en/functions/organisational-strategy/agentic-ai-in-hr.html</a:t>
            </a:r>
          </a:p>
          <a:p>
            <a:r>
              <a:t>https://www.microsoft.com/en-sg/microsoft-365-copilot/microsoft-copilot-studio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https://www.microsoft.com/en-us/microsoft-copilot/copilot-101/ai-for-hr</a:t>
            </a:r>
          </a:p>
          <a:p>
            <a:r>
              <a:t>https://www.microsoft.com/en-sg/microsoft-365-copilot/microsoft-copilot-studio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Deloitte, The Future of HR, Powered by AI (user-supplied reference deck)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https://www.ibm.com/think/topics/ai-agents-in-human-resources</a:t>
            </a:r>
          </a:p>
          <a:p>
            <a:r>
              <a:t>https://www.awinfracloud.com/blog/build-hr-agent-copilot-studio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https://www.sap.com/resources/ai-for-hr</a:t>
            </a:r>
          </a:p>
          <a:p>
            <a:r>
              <a:t>https://www.ibm.com/think/topics/ai-agents-in-human-resources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https://www.mckinsey.com/capabilities/people-and-organizational-performance/our-insights/the-organization-blog/four-ways-to-start-using-generative-ai-in-hr</a:t>
            </a:r>
          </a:p>
          <a:p>
            <a:r>
              <a:t>https://www.auxis.com/ai-in-hr-examples-types-use-cases-best-practices/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https://www.gartner.com/en/human-resources/topics/artificial-intelligence-in-hr</a:t>
            </a:r>
          </a:p>
          <a:p>
            <a:r>
              <a:t>https://www.auxis.com/ai-in-hr-examples-types-use-cases-best-practices/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https://www.gartner.com/en/human-resources/topics/artificial-intelligence-in-hr</a:t>
            </a:r>
          </a:p>
          <a:p>
            <a:r>
              <a:t>https://www.strategyand.pwc.com/de/en/functions/organisational-strategy/agentic-ai-in-hr.html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https://www.auxis.com/ai-in-hr-examples-types-use-cases-best-practices/</a:t>
            </a:r>
          </a:p>
          <a:p>
            <a:r>
              <a:t>https://www.strategyand.pwc.com/de/en/functions/organisational-strategy/agentic-ai-in-hr.html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https://github.com/tertiarycourses/TGS-2024045795-Microsoft-Copilot-for-HR/tree/master/labs/Lab-01-assess-talent-needs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https://github.com/tertiarycourses/TGS-2024045795-Microsoft-Copilot-for-HR/tree/master/labs/Lab-01-assess-talent-needs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https://github.com/tertiarycourses/TGS-2024045795-Microsoft-Copilot-for-HR/tree/master/labs/Lab-01-assess-talent-needs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https://github.com/tertiarycourses/TGS-2024045795-Microsoft-Copilot-for-HR/tree/master/labs/Lab-01-assess-talent-needs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https://github.com/tertiarycourses/TGS-2024045795-Microsoft-Copilot-for-HR/tree/master/labs/Lab-01-assess-talent-needs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https://github.com/tertiarycourses/TGS-2024045795-Microsoft-Copilot-for-HR/tree/master/labs/Lab-01-assess-talent-needs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https://github.com/tertiarycourses/TGS-2024045795-Microsoft-Copilot-for-HR/tree/master/labs/Lab-01-assess-talent-needs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https://github.com/tertiarycourses/TGS-2024045795-Microsoft-Copilot-for-HR/tree/master/labs/Lab-01-assess-talent-needs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https://github.com/tertiarycourses/TGS-2024045795-Microsoft-Copilot-for-HR/tree/master/labs/Lab-01-assess-talent-needs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https://github.com/tertiarycourses/TGS-2024045795-Microsoft-Copilot-for-HR/tree/master/labs/Lab-02-draft-job-description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https://github.com/tertiarycourses/TGS-2024045795-Microsoft-Copilot-for-HR/tree/master/labs/Lab-02-draft-job-description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https://github.com/tertiarycourses/TGS-2024045795-Microsoft-Copilot-for-HR/tree/master/labs/Lab-02-draft-job-description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https://github.com/tertiarycourses/TGS-2024045795-Microsoft-Copilot-for-HR/tree/master/labs/Lab-02-draft-job-description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https://github.com/tertiarycourses/TGS-2024045795-Microsoft-Copilot-for-HR/tree/master/labs/Lab-02-draft-job-description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https://github.com/tertiarycourses/TGS-2024045795-Microsoft-Copilot-for-HR/tree/master/labs/Lab-02-draft-job-description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https://github.com/tertiarycourses/TGS-2024045795-Microsoft-Copilot-for-HR/tree/master/labs/Lab-02-draft-job-description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https://github.com/tertiarycourses/TGS-2024045795-Microsoft-Copilot-for-HR/tree/master/labs/Lab-02-draft-job-description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https://github.com/tertiarycourses/TGS-2024045795-Microsoft-Copilot-for-HR/tree/master/labs/Lab-02-draft-job-description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https://github.com/tertiarycourses/TGS-2024045795-Microsoft-Copilot-for-HR/tree/master/labs/Lab-03-fair-resume-screening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https://github.com/tertiarycourses/TGS-2024045795-Microsoft-Copilot-for-HR/tree/master/labs/Lab-03-fair-resume-screening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https://github.com/tertiarycourses/TGS-2024045795-Microsoft-Copilot-for-HR/tree/master/labs/Lab-03-fair-resume-screening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https://github.com/tertiarycourses/TGS-2024045795-Microsoft-Copilot-for-HR/tree/master/labs/Lab-03-fair-resume-screening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https://github.com/tertiarycourses/TGS-2024045795-Microsoft-Copilot-for-HR/tree/master/labs/Lab-03-fair-resume-screening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https://github.com/tertiarycourses/TGS-2024045795-Microsoft-Copilot-for-HR/tree/master/labs/Lab-03-fair-resume-screening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https://github.com/tertiarycourses/TGS-2024045795-Microsoft-Copilot-for-HR/tree/master/labs/Lab-03-fair-resume-screening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https://github.com/tertiarycourses/TGS-2024045795-Microsoft-Copilot-for-HR/tree/master/labs/Lab-03-fair-resume-screening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https://github.com/tertiarycourses/TGS-2024045795-Microsoft-Copilot-for-HR/tree/master/labs/Lab-03-fair-resume-screening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https://www.microsoft.com/en-us/microsoft-copilot/copilot-101/ai-for-hr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https://www.gartner.com/en/human-resources/topics/artificial-intelligence-in-hr</a:t>
            </a:r>
          </a:p>
          <a:p>
            <a:r>
              <a:t>https://www.microsoft.com/en-us/microsoft-copilot/copilot-101/ai-for-hr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https://www.microsoft.com/en-us/microsoft-copilot/copilot-101/ai-for-hr</a:t>
            </a:r>
          </a:p>
          <a:p>
            <a:r>
              <a:t>https://www.mom.gov.sg/employment-practices/fair-consideration-framework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https://www.microsoft.com/en-us/microsoft-copilot/copilot-101/ai-for-hr</a:t>
            </a:r>
          </a:p>
          <a:p>
            <a:r>
              <a:t>https://www.sap.com/resources/ai-for-hr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https://www.microsoft.com/en-us/microsoft-copilot/copilot-101/ai-for-hr</a:t>
            </a:r>
          </a:p>
          <a:p>
            <a:r>
              <a:t>https://www.mom.gov.sg/employment-practices/fair-consideration-framework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https://www.sap.com/resources/ai-for-hr</a:t>
            </a:r>
          </a:p>
          <a:p>
            <a:r>
              <a:t>https://www.pdpc.gov.sg/help-and-resources/2020/01/model-ai-governance-framework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https://www.microsoft.com/en-us/microsoft-copilot/copilot-101/ai-for-hr</a:t>
            </a:r>
          </a:p>
          <a:p>
            <a:r>
              <a:t>https://www.pdpc.gov.sg/help-and-resources/2020/01/model-ai-governance-framework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https://www.microsoft.com/en-us/microsoft-copilot/copilot-101/ai-for-hr</a:t>
            </a:r>
          </a:p>
          <a:p>
            <a:r>
              <a:t>https://www.zendesk.com/blog/ai/workflow-automation/ai-in-hr/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https://adoption.microsoft.com/en-us/scenario-library/human-resources/improve-onboarding-and-development-processes-copilot-studio/</a:t>
            </a:r>
          </a:p>
          <a:p>
            <a:r>
              <a:t>https://www.sap.com/resources/ai-for-hr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 Revolution in Human Resources: Transforming HR Management with Artificial Intelligence (2023 user-supplied ebook)</a:t>
            </a:r>
          </a:p>
          <a:p>
            <a:r>
              <a:t>https://www.microsoft.com/en-us/microsoft-copilot/copilot-101/ai-for-hr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 Revolution in Human Resources: Transforming HR Management with Artificial Intelligence (2023 user-supplied ebook)</a:t>
            </a:r>
          </a:p>
          <a:p>
            <a:r>
              <a:t>https://www.pdpc.gov.sg/help-and-resources/2020/01/model-ai-governance-framework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https://www.microsoft.com/en-us/microsoft-copilot/copilot-101/ai-for-hr</a:t>
            </a:r>
          </a:p>
          <a:p>
            <a:r>
              <a:t>https://www.sap.com/resources/ai-for-hr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https://www.gartner.com/en/human-resources/topics/artificial-intelligence-in-hr</a:t>
            </a:r>
          </a:p>
          <a:p>
            <a:r>
              <a:t>https://www.sap.com/resources/ai-for-hr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https://www.gartner.com/en/human-resources/topics/artificial-intelligence-in-hr</a:t>
            </a:r>
          </a:p>
          <a:p>
            <a:r>
              <a:t>https://www.pdpc.gov.sg/help-and-resources/2020/01/model-ai-governance-framework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https://github.com/tertiarycourses/TGS-2024045795-Microsoft-Copilot-for-HR/tree/master/labs/Lab-04-structured-ai-interview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https://github.com/tertiarycourses/TGS-2024045795-Microsoft-Copilot-for-HR/tree/master/labs/Lab-04-structured-ai-interview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https://github.com/tertiarycourses/TGS-2024045795-Microsoft-Copilot-for-HR/tree/master/labs/Lab-04-structured-ai-interview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https://github.com/tertiarycourses/TGS-2024045795-Microsoft-Copilot-for-HR/tree/master/labs/Lab-04-structured-ai-interview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https://github.com/tertiarycourses/TGS-2024045795-Microsoft-Copilot-for-HR/tree/master/labs/Lab-04-structured-ai-interview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https://github.com/tertiarycourses/TGS-2024045795-Microsoft-Copilot-for-HR/tree/master/labs/Lab-04-structured-ai-interview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https://github.com/tertiarycourses/TGS-2024045795-Microsoft-Copilot-for-HR/tree/master/labs/Lab-04-structured-ai-interview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https://github.com/tertiarycourses/TGS-2024045795-Microsoft-Copilot-for-HR/tree/master/labs/Lab-04-structured-ai-interview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https://github.com/tertiarycourses/TGS-2024045795-Microsoft-Copilot-for-HR/tree/master/labs/Lab-04-structured-ai-interview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https://github.com/tertiarycourses/TGS-2024045795-Microsoft-Copilot-for-HR/tree/master/labs/Lab-05-onboarding-coordination-agent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https://github.com/tertiarycourses/TGS-2024045795-Microsoft-Copilot-for-HR/tree/master/labs/Lab-05-onboarding-coordination-agent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https://github.com/tertiarycourses/TGS-2024045795-Microsoft-Copilot-for-HR/tree/master/labs/Lab-05-onboarding-coordination-agent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https://github.com/tertiarycourses/TGS-2024045795-Microsoft-Copilot-for-HR/tree/master/labs/Lab-05-onboarding-coordination-agent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https://github.com/tertiarycourses/TGS-2024045795-Microsoft-Copilot-for-HR/tree/master/labs/Lab-05-onboarding-coordination-agent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https://github.com/tertiarycourses/TGS-2024045795-Microsoft-Copilot-for-HR/tree/master/labs/Lab-05-onboarding-coordination-agent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https://github.com/tertiarycourses/TGS-2024045795-Microsoft-Copilot-for-HR/tree/master/labs/Lab-05-onboarding-coordination-agent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https://github.com/tertiarycourses/TGS-2024045795-Microsoft-Copilot-for-HR/tree/master/labs/Lab-05-onboarding-coordination-agent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https://github.com/tertiarycourses/TGS-2024045795-Microsoft-Copilot-for-HR/tree/master/labs/Lab-05-onboarding-coordination-agent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https://github.com/tertiarycourses/TGS-2024045795-Microsoft-Copilot-for-HR/tree/master/labs/Lab-06-talent-development-copilot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https://github.com/tertiarycourses/TGS-2024045795-Microsoft-Copilot-for-HR/tree/master/labs/Lab-06-talent-development-copilot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https://github.com/tertiarycourses/TGS-2024045795-Microsoft-Copilot-for-HR/tree/master/labs/Lab-06-talent-development-copilot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https://github.com/tertiarycourses/TGS-2024045795-Microsoft-Copilot-for-HR/tree/master/labs/Lab-06-talent-development-copilot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https://github.com/tertiarycourses/TGS-2024045795-Microsoft-Copilot-for-HR/tree/master/labs/Lab-06-talent-development-copilot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https://github.com/tertiarycourses/TGS-2024045795-Microsoft-Copilot-for-HR/tree/master/labs/Lab-06-talent-development-copilot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https://github.com/tertiarycourses/TGS-2024045795-Microsoft-Copilot-for-HR/tree/master/labs/Lab-06-talent-development-copilot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https://github.com/tertiarycourses/TGS-2024045795-Microsoft-Copilot-for-HR/tree/master/labs/Lab-06-talent-development-copilot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https://github.com/tertiarycourses/TGS-2024045795-Microsoft-Copilot-for-HR/tree/master/labs/Lab-06-talent-development-copilot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https://www.microsoft.com/en-sg/microsoft-365-copilot/microsoft-copilot-studio</a:t>
            </a:r>
          </a:p>
          <a:p>
            <a:r>
              <a:t>https://www.microsoft.com/en-us/microsoft-copilot/blog/copilot-studio/transform-hr-with-ai-powered-agents/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https://adoption.microsoft.com/en-us/scenario-library/human-resources/improve-onboarding-and-development-processes-copilot-studio/</a:t>
            </a:r>
          </a:p>
          <a:p>
            <a:r>
              <a:t>https://www.microsoft.com/en-sg/microsoft-365-copilot/microsoft-copilot-studio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https://www.microsoft.com/en-sg/microsoft-365-copilot/microsoft-copilot-studio</a:t>
            </a:r>
          </a:p>
          <a:p>
            <a:r>
              <a:t>https://www.awinfracloud.com/blog/build-hr-agent-copilot-studio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 Revolution in Human Resources: Transforming HR Management with Artificial Intelligence (2023 user-supplied ebook)</a:t>
            </a:r>
          </a:p>
          <a:p>
            <a:r>
              <a:t>https://www.microsoft.com/en-sg/microsoft-365-copilot/microsoft-copilot-studio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https://www.awinfracloud.com/blog/build-hr-agent-copilot-studio</a:t>
            </a:r>
          </a:p>
          <a:p>
            <a:r>
              <a:t>https://adoption.microsoft.com/en-us/ai-agents/employee-self-service-agent/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https://www.ibm.com/think/topics/ai-agents-in-human-resources</a:t>
            </a:r>
          </a:p>
          <a:p>
            <a:r>
              <a:t>https://www.pdpc.gov.sg/help-and-resources/2020/01/model-ai-governance-framework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https://www.microsoft.com/en-us/microsoft-copilot/blog/copilot-studio/transform-hr-with-ai-powered-agents/</a:t>
            </a:r>
          </a:p>
          <a:p>
            <a:r>
              <a:t>https://adoption.microsoft.com/en-us/ai-agents/employee-self-service-agent/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https://www.awinfracloud.com/blog/build-hr-agent-copilot-studio</a:t>
            </a:r>
          </a:p>
          <a:p>
            <a:r>
              <a:t>https://www.zendesk.com/blog/ai/workflow-automation/ai-in-hr/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https://adoption.microsoft.com/en-us/scenario-library/human-resources/improve-onboarding-and-development-processes-copilot-studio/</a:t>
            </a:r>
          </a:p>
          <a:p>
            <a:r>
              <a:t>https://www.microsoft.com/en-us/microsoft-copilot/blog/copilot-studio/transform-hr-with-ai-powered-agents/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https://adoption.microsoft.com/en-us/ai-agents/employee-self-service-agent/</a:t>
            </a:r>
          </a:p>
          <a:p>
            <a:r>
              <a:t>https://www.microsoft.com/en-us/microsoft-copilot/blog/copilot-studio/transform-hr-with-ai-powered-agents/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https://www.zendesk.com/blog/ai/workflow-automation/ai-in-hr/</a:t>
            </a:r>
          </a:p>
          <a:p>
            <a:r>
              <a:t>https://www.ibm.com/think/topics/ai-agents-in-human-resources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https://www.ibm.com/think/topics/ai-agents-in-human-resources</a:t>
            </a:r>
          </a:p>
          <a:p>
            <a:r>
              <a:t>https://www.moveworks.com/us/en/resources/blog/agentic-ai-in-hr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https://www.pdpc.gov.sg/help-and-resources/2020/01/model-ai-governance-framework</a:t>
            </a:r>
          </a:p>
          <a:p>
            <a:r>
              <a:t>https://www.auxis.com/ai-in-hr-examples-types-use-cases-best-practices/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https://github.com/tertiarycourses/TGS-2024045795-Microsoft-Copilot-for-HR/tree/master/labs/Lab-07-policy-qa-agent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https://github.com/tertiarycourses/TGS-2024045795-Microsoft-Copilot-for-HR/tree/master/labs/Lab-07-policy-qa-agent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https://github.com/tertiarycourses/TGS-2024045795-Microsoft-Copilot-for-HR/tree/master/labs/Lab-07-policy-qa-agent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https://github.com/tertiarycourses/TGS-2024045795-Microsoft-Copilot-for-HR/tree/master/labs/Lab-07-policy-qa-agent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https://github.com/tertiarycourses/TGS-2024045795-Microsoft-Copilot-for-HR/tree/master/labs/Lab-07-policy-qa-agent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https://github.com/tertiarycourses/TGS-2024045795-Microsoft-Copilot-for-HR/tree/master/labs/Lab-07-policy-qa-agent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https://github.com/tertiarycourses/TGS-2024045795-Microsoft-Copilot-for-HR/tree/master/labs/Lab-07-policy-qa-agent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https://github.com/tertiarycourses/TGS-2024045795-Microsoft-Copilot-for-HR/tree/master/labs/Lab-07-policy-qa-agent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https://github.com/tertiarycourses/TGS-2024045795-Microsoft-Copilot-for-HR/tree/master/labs/Lab-07-policy-qa-agent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https://github.com/tertiarycourses/TGS-2024045795-Microsoft-Copilot-for-HR/tree/master/labs/Lab-08-leave-agent-flow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https://github.com/tertiarycourses/TGS-2024045795-Microsoft-Copilot-for-HR/tree/master/labs/Lab-08-leave-agent-flow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https://github.com/tertiarycourses/TGS-2024045795-Microsoft-Copilot-for-HR/tree/master/labs/Lab-08-leave-agent-flow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https://github.com/tertiarycourses/TGS-2024045795-Microsoft-Copilot-for-HR/tree/master/labs/Lab-08-leave-agent-flow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https://github.com/tertiarycourses/TGS-2024045795-Microsoft-Copilot-for-HR/tree/master/labs/Lab-08-leave-agent-flow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https://github.com/tertiarycourses/TGS-2024045795-Microsoft-Copilot-for-HR/tree/master/labs/Lab-08-leave-agent-flow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https://github.com/tertiarycourses/TGS-2024045795-Microsoft-Copilot-for-HR/tree/master/labs/Lab-08-leave-agent-flow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https://github.com/tertiarycourses/TGS-2024045795-Microsoft-Copilot-for-HR/tree/master/labs/Lab-08-leave-agent-flow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https://github.com/tertiarycourses/TGS-2024045795-Microsoft-Copilot-for-HR/tree/master/labs/Lab-08-leave-agent-flow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https://github.com/tertiarycourses/TGS-2024045795-Microsoft-Copilot-for-HR/tree/master/labs/Lab-09-benefits-service-agent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https://github.com/tertiarycourses/TGS-2024045795-Microsoft-Copilot-for-HR/tree/master/labs/Lab-09-benefits-service-agent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https://github.com/tertiarycourses/TGS-2024045795-Microsoft-Copilot-for-HR/tree/master/labs/Lab-09-benefits-service-agent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https://github.com/tertiarycourses/TGS-2024045795-Microsoft-Copilot-for-HR/tree/master/labs/Lab-09-benefits-service-agent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https://github.com/tertiarycourses/TGS-2024045795-Microsoft-Copilot-for-HR/tree/master/labs/Lab-09-benefits-service-agent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https://github.com/tertiarycourses/TGS-2024045795-Microsoft-Copilot-for-HR/tree/master/labs/Lab-09-benefits-service-agent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https://github.com/tertiarycourses/TGS-2024045795-Microsoft-Copilot-for-HR/tree/master/labs/Lab-09-benefits-service-agent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https://github.com/tertiarycourses/TGS-2024045795-Microsoft-Copilot-for-HR/tree/master/labs/Lab-09-benefits-service-agent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https://github.com/tertiarycourses/TGS-2024045795-Microsoft-Copilot-for-HR/tree/master/labs/Lab-09-benefits-service-agent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https://www.pdpc.gov.sg/help-and-resources/2020/01/model-ai-governance-framework</a:t>
            </a:r>
          </a:p>
          <a:p>
            <a:r>
              <a:t>https://www.mom.gov.sg/employment-practices/fair-consideration-framework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https://www.pdpc.gov.sg/help-and-resources/2020/01/model-ai-governance-framework</a:t>
            </a:r>
          </a:p>
          <a:p>
            <a:r>
              <a:t>https://www.strategyand.pwc.com/de/en/functions/organisational-strategy/agentic-ai-in-hr.html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Deloitte, The Future of HR, Powered by AI (user-supplied reference deck)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 Revolution in Human Resources: Transforming HR Management with Artificial Intelligence (2023 user-supplied ebook)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 Revolution in Human Resources: Transforming HR Management with Artificial Intelligence (2023 user-supplied ebook)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https://www.pdpc.gov.sg/help-and-resources/2020/01/model-ai-governance-framework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https://www.mom.gov.sg/employment-practices/fair-consideration-framework</a:t>
            </a:r>
          </a:p>
          <a:p>
            <a:r>
              <a:t>https://www.pdpc.gov.sg/help-and-resources/2020/01/model-ai-governance-framework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https://www.pdpc.gov.sg/help-and-resources/2020/01/model-ai-governance-framework</a:t>
            </a:r>
          </a:p>
          <a:p>
            <a:r>
              <a:t>https://www.sap.com/resources/ai-for-hr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https://www.pdpc.gov.sg/help-and-resources/2020/01/model-ai-governance-framework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https://www.pdpc.gov.sg/help-and-resources/2020/01/model-ai-governance-framework</a:t>
            </a:r>
          </a:p>
          <a:p>
            <a:r>
              <a:t>https://www.microsoft.com/en-sg/microsoft-365-copilot/microsoft-copilot-studio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https://www.microsoft.com/en-sg/microsoft-365-copilot/microsoft-copilot-studio</a:t>
            </a:r>
          </a:p>
          <a:p>
            <a:r>
              <a:t>https://www.ibm.com/think/topics/ai-agents-in-human-resources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https://www.hrci.org/community/blogs-and-announcements/hr-leads-business-blog/hr-leads-business/2025/08/21/agentic-ai-in-hr</a:t>
            </a:r>
          </a:p>
          <a:p>
            <a:r>
              <a:t>https://www.strategyand.pwc.com/de/en/functions/organisational-strategy/agentic-ai-in-hr.html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https://www.mckinsey.com/capabilities/people-and-organizational-performance/our-insights/the-organization-blog/four-ways-to-start-using-generative-ai-in-hr</a:t>
            </a:r>
          </a:p>
          <a:p>
            <a:r>
              <a:t>https://www.gartner.com/en/human-resources/topics/artificial-intelligence-in-hr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https://www.gartner.com/en/human-resources/topics/artificial-intelligence-in-hr</a:t>
            </a:r>
          </a:p>
          <a:p>
            <a:r>
              <a:t>https://www.auxis.com/ai-in-hr-examples-types-use-cases-best-practices/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 Revolution in Human Resources: Transforming HR Management with Artificial Intelligence (2023 user-supplied ebook)</a:t>
            </a:r>
          </a:p>
          <a:p>
            <a:r>
              <a:t>Deloitte, The Future of HR, Powered by AI (user-supplied reference deck)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https://www.strategyand.pwc.com/de/en/functions/organisational-strategy/agentic-ai-in-hr.html</a:t>
            </a:r>
          </a:p>
          <a:p>
            <a:r>
              <a:t>https://www.auxis.com/ai-in-hr-examples-types-use-cases-best-practices/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https://github.com/tertiarycourses/TGS-2024045795-Microsoft-Copilot-for-HR/tree/master/labs/Lab-10-workforce-wellness-insights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https://github.com/tertiarycourses/TGS-2024045795-Microsoft-Copilot-for-HR/tree/master/labs/Lab-10-workforce-wellness-insights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https://github.com/tertiarycourses/TGS-2024045795-Microsoft-Copilot-for-HR/tree/master/labs/Lab-10-workforce-wellness-insights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https://github.com/tertiarycourses/TGS-2024045795-Microsoft-Copilot-for-HR/tree/master/labs/Lab-10-workforce-wellness-insights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https://github.com/tertiarycourses/TGS-2024045795-Microsoft-Copilot-for-HR/tree/master/labs/Lab-10-workforce-wellness-insights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https://github.com/tertiarycourses/TGS-2024045795-Microsoft-Copilot-for-HR/tree/master/labs/Lab-10-workforce-wellness-insights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https://github.com/tertiarycourses/TGS-2024045795-Microsoft-Copilot-for-HR/tree/master/labs/Lab-10-workforce-wellness-insights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https://github.com/tertiarycourses/TGS-2024045795-Microsoft-Copilot-for-HR/tree/master/labs/Lab-10-workforce-wellness-insights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https://github.com/tertiarycourses/TGS-2024045795-Microsoft-Copilot-for-HR/tree/master/labs/Lab-10-workforce-wellness-insights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https://github.com/tertiarycourses/TGS-2024045795-Microsoft-Copilot-for-HR/tree/master/labs/Lab-11-offboarding-agent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https://github.com/tertiarycourses/TGS-2024045795-Microsoft-Copilot-for-HR/tree/master/labs/Lab-11-offboarding-agent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https://github.com/tertiarycourses/TGS-2024045795-Microsoft-Copilot-for-HR/tree/master/labs/Lab-11-offboarding-agent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https://github.com/tertiarycourses/TGS-2024045795-Microsoft-Copilot-for-HR/tree/master/labs/Lab-11-offboarding-agent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https://github.com/tertiarycourses/TGS-2024045795-Microsoft-Copilot-for-HR/tree/master/labs/Lab-11-offboarding-agent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https://github.com/tertiarycourses/TGS-2024045795-Microsoft-Copilot-for-HR/tree/master/labs/Lab-11-offboarding-agent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https://github.com/tertiarycourses/TGS-2024045795-Microsoft-Copilot-for-HR/tree/master/labs/Lab-11-offboarding-agent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https://github.com/tertiarycourses/TGS-2024045795-Microsoft-Copilot-for-HR/tree/master/labs/Lab-11-offboarding-agent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https://github.com/tertiarycourses/TGS-2024045795-Microsoft-Copilot-for-HR/tree/master/labs/Lab-11-offboarding-agent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https://github.com/tertiarycourses/TGS-2024045795-Microsoft-Copilot-for-HR/tree/master/labs/Lab-12-hr-agent-control-room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https://github.com/tertiarycourses/TGS-2024045795-Microsoft-Copilot-for-HR/tree/master/labs/Lab-12-hr-agent-control-room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https://github.com/tertiarycourses/TGS-2024045795-Microsoft-Copilot-for-HR/tree/master/labs/Lab-12-hr-agent-control-room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https://github.com/tertiarycourses/TGS-2024045795-Microsoft-Copilot-for-HR/tree/master/labs/Lab-12-hr-agent-control-room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https://github.com/tertiarycourses/TGS-2024045795-Microsoft-Copilot-for-HR/tree/master/labs/Lab-12-hr-agent-control-room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https://github.com/tertiarycourses/TGS-2024045795-Microsoft-Copilot-for-HR/tree/master/labs/Lab-12-hr-agent-control-room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https://github.com/tertiarycourses/TGS-2024045795-Microsoft-Copilot-for-HR/tree/master/labs/Lab-12-hr-agent-control-room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https://github.com/tertiarycourses/TGS-2024045795-Microsoft-Copilot-for-HR/tree/master/labs/Lab-12-hr-agent-control-room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https://github.com/tertiarycourses/TGS-2024045795-Microsoft-Copilot-for-HR/tree/master/labs/Lab-12-hr-agent-control-room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https://www.mckinsey.com/capabilities/people-and-organizational-performance/our-insights/the-organization-blog/four-ways-to-start-using-generative-ai-in-hr</a:t>
            </a:r>
          </a:p>
          <a:p>
            <a:r>
              <a:t>https://www.gartner.com/en/human-resources/topics/artificial-intelligence-in-hr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3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6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1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2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3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4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5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6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8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9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0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1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2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3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4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5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6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8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9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0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1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2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3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4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5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6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8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9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0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1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2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3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4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5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6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8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9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0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1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2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3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4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5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6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8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9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0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1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72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-hero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347472"/>
            <a:ext cx="393192" cy="3931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30368" y="429768"/>
            <a:ext cx="50292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WSQ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5212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WSQ • HUMAN RESOURCE DIGITALISATION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97280"/>
            <a:ext cx="5303520" cy="1463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4000" b="1">
                <a:solidFill>
                  <a:srgbClr val="0C2340"/>
                </a:solidFill>
                <a:latin typeface="Aptos"/>
              </a:rPr>
              <a:t>Microsoft Copilot for HR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4892040" cy="10972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0">
                <a:solidFill>
                  <a:srgbClr val="1C2430"/>
                </a:solidFill>
                <a:latin typeface="Aptos"/>
              </a:rPr>
              <a:t>Reduce HR administration with Copilot and governed agents—returning time to faster service, better decisions and strategic people 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77639"/>
            <a:ext cx="4754880" cy="98755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169663"/>
            <a:ext cx="429768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071BC"/>
                </a:solidFill>
                <a:latin typeface="Aptos"/>
              </a:rPr>
              <a:t>TGS-2024045795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80560"/>
            <a:ext cx="42976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86576"/>
                </a:solidFill>
                <a:latin typeface="Aptos"/>
              </a:rPr>
              <a:t>2 days / 16 hours  •  HRS-HRM-4031-1.1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897880"/>
            <a:ext cx="530352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86576"/>
                </a:solidFill>
                <a:latin typeface="Aptos"/>
              </a:rPr>
              <a:t>Trainer: Dr. Alfred Ang  |  Version 6.3  |  27 September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163056"/>
            <a:ext cx="530352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86576"/>
                </a:solidFill>
                <a:latin typeface="Aptos"/>
              </a:rPr>
              <a:t>Tertiary Infotech Academy Pte Ltd  | 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" y="0"/>
            <a:ext cx="109728" cy="6858000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2514600"/>
            <a:ext cx="82296" cy="98755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87168"/>
            <a:ext cx="347472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07792"/>
            <a:ext cx="96926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3200" b="1">
                <a:solidFill>
                  <a:srgbClr val="0C2340"/>
                </a:solidFill>
                <a:latin typeface="Aptos"/>
              </a:rPr>
              <a:t>Welcome &amp; Housekeeping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Digital Attendance (Mandatory)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TRAQOM · SSG DIGITAL ATTENDANCE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33756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38528"/>
            <a:ext cx="288036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600" b="1">
                <a:solidFill>
                  <a:srgbClr val="0071BC"/>
                </a:solidFill>
                <a:latin typeface="Aptos"/>
              </a:rPr>
              <a:t>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61488"/>
            <a:ext cx="2697480" cy="6583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0C2340"/>
                </a:solidFill>
                <a:latin typeface="Aptos"/>
              </a:rPr>
              <a:t>Start of morning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33088" y="2670048"/>
            <a:ext cx="36576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691640"/>
            <a:ext cx="333756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1938528"/>
            <a:ext cx="288036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600" b="1">
                <a:solidFill>
                  <a:srgbClr val="0071BC"/>
                </a:solidFill>
                <a:latin typeface="Aptos"/>
              </a:rPr>
              <a:t>PM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761488"/>
            <a:ext cx="2697480" cy="6583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0C2340"/>
                </a:solidFill>
                <a:latin typeface="Aptos"/>
              </a:rPr>
              <a:t>Start of afternoon session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3568" y="2670048"/>
            <a:ext cx="36576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691640"/>
            <a:ext cx="333756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1938528"/>
            <a:ext cx="288036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600" b="1">
                <a:solidFill>
                  <a:srgbClr val="0071BC"/>
                </a:solidFill>
                <a:latin typeface="Aptos"/>
              </a:rPr>
              <a:t>ASSESSMENT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2761488"/>
            <a:ext cx="2697480" cy="6583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0C2340"/>
                </a:solidFill>
                <a:latin typeface="Aptos"/>
              </a:rPr>
              <a:t>Before WA and Case Study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4736592"/>
            <a:ext cx="10058400" cy="768096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98448" y="4937760"/>
            <a:ext cx="9555480" cy="35661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C2430"/>
                </a:solidFill>
                <a:latin typeface="Aptos"/>
              </a:rPr>
              <a:t>Trainer displays the SSG QR code  →  learner scans and submits each 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833872"/>
            <a:ext cx="1005840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C4363E"/>
                </a:solidFill>
                <a:latin typeface="Aptos"/>
              </a:rPr>
              <a:t>Eligibility check: at least 75% attendance plus a Competent assessment result.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About the Trainer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YOUR TRAINER · GENERAL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2971800" cy="443484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2971800" cy="73152"/>
          </a:xfrm>
          <a:prstGeom prst="rect">
            <a:avLst/>
          </a:prstGeom>
          <a:solidFill>
            <a:srgbClr val="74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81328" y="1810512"/>
            <a:ext cx="1325880" cy="1325880"/>
          </a:xfrm>
          <a:prstGeom prst="ellipse">
            <a:avLst/>
          </a:prstGeom>
          <a:solidFill>
            <a:srgbClr val="74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81328" y="2249424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401568"/>
            <a:ext cx="2487168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0C2340"/>
                </a:solidFill>
                <a:latin typeface="Aptos"/>
              </a:rPr>
              <a:t>Your Trainer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67912"/>
            <a:ext cx="2450592" cy="7132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586576"/>
                </a:solidFill>
                <a:latin typeface="Aptos"/>
              </a:rPr>
              <a:t>General Trainer template —
to be completed by the trainer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1417320"/>
            <a:ext cx="7635240" cy="65532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86200" y="1417320"/>
            <a:ext cx="54864" cy="655320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87368" y="1527048"/>
            <a:ext cx="19659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0071BC"/>
                </a:solidFill>
                <a:latin typeface="Aptos"/>
              </a:rPr>
              <a:t>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508760"/>
            <a:ext cx="5074920" cy="50901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586576"/>
                </a:solidFill>
                <a:latin typeface="Aptos"/>
              </a:rPr>
              <a:t>____________________________________________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2173224"/>
            <a:ext cx="7635240" cy="65532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86200" y="2173224"/>
            <a:ext cx="54864" cy="65532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87368" y="2282952"/>
            <a:ext cx="19659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00A6A6"/>
                </a:solidFill>
                <a:latin typeface="Aptos"/>
              </a:rPr>
              <a:t>TITLE / DESIGNATION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264664"/>
            <a:ext cx="5074920" cy="50901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586576"/>
                </a:solidFill>
                <a:latin typeface="Aptos"/>
              </a:rPr>
              <a:t>____________________________________________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86200" y="2929128"/>
            <a:ext cx="7635240" cy="65532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86200" y="2929128"/>
            <a:ext cx="54864" cy="655320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87368" y="3038856"/>
            <a:ext cx="19659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238C5C"/>
                </a:solidFill>
                <a:latin typeface="Aptos"/>
              </a:rPr>
              <a:t>QUALIFICATIONS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020568"/>
            <a:ext cx="5074920" cy="50901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586576"/>
                </a:solidFill>
                <a:latin typeface="Aptos"/>
              </a:rPr>
              <a:t>____________________________________________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86200" y="3685032"/>
            <a:ext cx="7635240" cy="65532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86200" y="3685032"/>
            <a:ext cx="54864" cy="655320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87368" y="3794760"/>
            <a:ext cx="19659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EE7E20"/>
                </a:solidFill>
                <a:latin typeface="Aptos"/>
              </a:rPr>
              <a:t>AREAS OF EXPERTISE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3776472"/>
            <a:ext cx="5074920" cy="50901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586576"/>
                </a:solidFill>
                <a:latin typeface="Aptos"/>
              </a:rPr>
              <a:t>____________________________________________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86200" y="4440936"/>
            <a:ext cx="7635240" cy="65532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86200" y="4440936"/>
            <a:ext cx="54864" cy="655320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87368" y="4550664"/>
            <a:ext cx="19659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0071BC"/>
                </a:solidFill>
                <a:latin typeface="Aptos"/>
              </a:rPr>
              <a:t>TRAINING &amp; INDUSTRY EXPERIENCE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4532375"/>
            <a:ext cx="5074920" cy="50901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586576"/>
                </a:solidFill>
                <a:latin typeface="Aptos"/>
              </a:rPr>
              <a:t>____________________________________________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86200" y="5196839"/>
            <a:ext cx="7635240" cy="65532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86200" y="5196839"/>
            <a:ext cx="54864" cy="65532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87368" y="5306567"/>
            <a:ext cx="19659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00A6A6"/>
                </a:solidFill>
                <a:latin typeface="Aptos"/>
              </a:rPr>
              <a:t>CONTACT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5288279"/>
            <a:ext cx="5074920" cy="50901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586576"/>
                </a:solidFill>
                <a:latin typeface="Aptos"/>
              </a:rPr>
              <a:t>____________________________________________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About the Trainer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YOUR TRAINER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2971800" cy="443484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2971800" cy="7315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81328" y="1810512"/>
            <a:ext cx="1325880" cy="1325880"/>
          </a:xfrm>
          <a:prstGeom prst="ellipse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81328" y="2249424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AA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401568"/>
            <a:ext cx="2487168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0C2340"/>
                </a:solidFill>
                <a:latin typeface="Aptos"/>
              </a:rPr>
              <a:t>Dr. Alfred 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67912"/>
            <a:ext cx="2450592" cy="7132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586576"/>
                </a:solidFill>
                <a:latin typeface="Aptos"/>
              </a:rPr>
              <a:t>Principal Trainer
Tertiary Infotech Academy Pte Ltd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1417320"/>
            <a:ext cx="7635240" cy="1033271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86200" y="1417320"/>
            <a:ext cx="54864" cy="1033271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87368" y="1527048"/>
            <a:ext cx="19659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0071BC"/>
                </a:solidFill>
                <a:latin typeface="Aptos"/>
              </a:rPr>
              <a:t>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508760"/>
            <a:ext cx="5074920" cy="886967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Principal Trainer, Tertiary Infotech Academy Pte Ltd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2551176"/>
            <a:ext cx="7635240" cy="1033271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86200" y="2551176"/>
            <a:ext cx="54864" cy="1033271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87368" y="2660904"/>
            <a:ext cx="19659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0071BC"/>
                </a:solidFill>
                <a:latin typeface="Aptos"/>
              </a:rPr>
              <a:t>BACKGROUND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642616"/>
            <a:ext cx="5074920" cy="886967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PhD · 20+ years of industry and training experience in business, technology, analytics and AI.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86200" y="3685032"/>
            <a:ext cx="7635240" cy="1033271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86200" y="3685032"/>
            <a:ext cx="54864" cy="1033271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87368" y="3794760"/>
            <a:ext cx="19659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0071BC"/>
                </a:solidFill>
                <a:latin typeface="Aptos"/>
              </a:rPr>
              <a:t>DELIVERS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776472"/>
            <a:ext cx="5074920" cy="886967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WSQ professional development in AI transformation, data analytics and responsible adoption.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86200" y="4818888"/>
            <a:ext cx="7635240" cy="1033271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86200" y="4818888"/>
            <a:ext cx="54864" cy="1033271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87368" y="4928616"/>
            <a:ext cx="19659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0071BC"/>
                </a:solidFill>
                <a:latin typeface="Aptos"/>
              </a:rPr>
              <a:t>FOUNDER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910327"/>
            <a:ext cx="5074920" cy="886967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Founder and lead instructor at Tertiary Infotech / Tertiary Courses.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Let's Know Each Other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ICE-BREAKER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52728"/>
            <a:ext cx="10881360" cy="18288"/>
          </a:xfrm>
          <a:prstGeom prst="rect">
            <a:avLst/>
          </a:prstGeom>
          <a:solidFill>
            <a:srgbClr val="DB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10241280" cy="43891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C2430"/>
                </a:solidFill>
                <a:latin typeface="Aptos"/>
              </a:defRPr>
            </a:pPr>
            <a:r>
              <a:t>•  Your name and organisation or HR role.</a:t>
            </a:r>
          </a:p>
          <a:p>
            <a:pPr>
              <a:spcAft>
                <a:spcPts val="1200"/>
              </a:spcAft>
              <a:defRPr sz="1700">
                <a:solidFill>
                  <a:srgbClr val="1C2430"/>
                </a:solidFill>
                <a:latin typeface="Aptos"/>
              </a:defRPr>
            </a:pPr>
            <a:r>
              <a:t>•  Your experience with Microsoft 365 Copilot, Copilot Studio or HR automation, if any.</a:t>
            </a:r>
          </a:p>
          <a:p>
            <a:pPr>
              <a:spcAft>
                <a:spcPts val="1200"/>
              </a:spcAft>
              <a:defRPr sz="1700">
                <a:solidFill>
                  <a:srgbClr val="1C2430"/>
                </a:solidFill>
                <a:latin typeface="Aptos"/>
              </a:defRPr>
            </a:pPr>
            <a:r>
              <a:t>•  One HR process you would like to improve with generative or agentic AI.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Ground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HOUSEKEEPING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44752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73152" cy="1143000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83664"/>
            <a:ext cx="4572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91056" y="1719072"/>
            <a:ext cx="3886200" cy="5943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C2340"/>
                </a:solidFill>
                <a:latin typeface="Aptos"/>
              </a:rPr>
              <a:t>Set your mobile phone to silent mode.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5" y="1444752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63055" y="1444752"/>
            <a:ext cx="73152" cy="1143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19088" y="1783080"/>
            <a:ext cx="457200" cy="45720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883664"/>
            <a:ext cx="4572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95744" y="1719072"/>
            <a:ext cx="3886200" cy="5943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C2340"/>
                </a:solidFill>
                <a:latin typeface="Aptos"/>
              </a:rPr>
              <a:t>Participate actively — no question is too small.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926080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2926080"/>
            <a:ext cx="73152" cy="1143000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3264408"/>
            <a:ext cx="457200" cy="457200"/>
          </a:xfrm>
          <a:prstGeom prst="ellipse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364992"/>
            <a:ext cx="4572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91056" y="3200400"/>
            <a:ext cx="3886200" cy="5943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C2340"/>
                </a:solidFill>
                <a:latin typeface="Aptos"/>
              </a:rPr>
              <a:t>Mutual respect: agree to disagree.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5" y="2926080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63055" y="2926080"/>
            <a:ext cx="73152" cy="1143000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19088" y="3264408"/>
            <a:ext cx="457200" cy="457200"/>
          </a:xfrm>
          <a:prstGeom prst="ellipse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3364992"/>
            <a:ext cx="4572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95744" y="3200400"/>
            <a:ext cx="3886200" cy="5943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C2340"/>
                </a:solidFill>
                <a:latin typeface="Aptos"/>
              </a:rPr>
              <a:t>One conversation at a time.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407408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4407408"/>
            <a:ext cx="73152" cy="1143000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400" y="4745736"/>
            <a:ext cx="457200" cy="457200"/>
          </a:xfrm>
          <a:prstGeom prst="ellipse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846320"/>
            <a:ext cx="4572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91056" y="4681728"/>
            <a:ext cx="3886200" cy="5943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C2340"/>
                </a:solidFill>
                <a:latin typeface="Aptos"/>
              </a:rPr>
              <a:t>Be punctual; return from breaks on time.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63055" y="4407408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63055" y="4407408"/>
            <a:ext cx="73152" cy="1143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19088" y="4745736"/>
            <a:ext cx="457200" cy="45720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4846320"/>
            <a:ext cx="4572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95744" y="4681728"/>
            <a:ext cx="3886200" cy="5943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C2340"/>
                </a:solidFill>
                <a:latin typeface="Aptos"/>
              </a:rPr>
              <a:t>Use synthetic data only; protect personal information.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Download Course Material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COURSE PORTAL · LMS/TMS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5715000" cy="429768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112" y="1673352"/>
            <a:ext cx="521208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755648"/>
            <a:ext cx="484632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0071BC"/>
                </a:solidFill>
                <a:latin typeface="Aptos"/>
              </a:rPr>
              <a:t>https://lms-tms.tertiaryinfotech.com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221992"/>
            <a:ext cx="507492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Microsoft Copilot for HR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679192"/>
            <a:ext cx="507492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798064"/>
            <a:ext cx="4663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C2340"/>
                </a:solidFill>
                <a:latin typeface="Aptos"/>
              </a:rPr>
              <a:t>Trainer Slides (PDF)  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300984"/>
            <a:ext cx="507492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3419856"/>
            <a:ext cx="4663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C2340"/>
                </a:solidFill>
                <a:latin typeface="Aptos"/>
              </a:rPr>
              <a:t>Learner Guide (PDF)  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922776"/>
            <a:ext cx="507492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4041648"/>
            <a:ext cx="4663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C2340"/>
                </a:solidFill>
                <a:latin typeface="Aptos"/>
              </a:rPr>
              <a:t>Lab Files  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544568"/>
            <a:ext cx="507492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4663440"/>
            <a:ext cx="4663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Aptos"/>
              </a:rPr>
              <a:t>Assessment Submission  ↗</a:t>
            </a:r>
          </a:p>
        </p:txBody>
      </p:sp>
      <p:sp>
        <p:nvSpPr>
          <p:cNvPr id="17" name="Oval 16"/>
          <p:cNvSpPr/>
          <p:nvPr/>
        </p:nvSpPr>
        <p:spPr>
          <a:xfrm>
            <a:off x="6720840" y="1536192"/>
            <a:ext cx="438912" cy="438912"/>
          </a:xfrm>
          <a:prstGeom prst="ellipse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1636776"/>
            <a:ext cx="438912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1444752"/>
            <a:ext cx="38862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C2340"/>
                </a:solidFill>
                <a:latin typeface="Aptos"/>
              </a:rPr>
              <a:t>Sign 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1755648"/>
            <a:ext cx="38862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86576"/>
                </a:solidFill>
                <a:latin typeface="Aptos"/>
              </a:rPr>
              <a:t>Use your registered email and OTP or password.</a:t>
            </a:r>
          </a:p>
        </p:txBody>
      </p:sp>
      <p:sp>
        <p:nvSpPr>
          <p:cNvPr id="21" name="Oval 20"/>
          <p:cNvSpPr/>
          <p:nvPr/>
        </p:nvSpPr>
        <p:spPr>
          <a:xfrm>
            <a:off x="6720840" y="2596896"/>
            <a:ext cx="438912" cy="438912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2697480"/>
            <a:ext cx="438912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2505456"/>
            <a:ext cx="38862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C2340"/>
                </a:solidFill>
                <a:latin typeface="Aptos"/>
              </a:rPr>
              <a:t>Open your course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816352"/>
            <a:ext cx="38862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86576"/>
                </a:solidFill>
                <a:latin typeface="Aptos"/>
              </a:rPr>
              <a:t>Select Microsoft Copilot for HR under My Courses.</a:t>
            </a:r>
          </a:p>
        </p:txBody>
      </p:sp>
      <p:sp>
        <p:nvSpPr>
          <p:cNvPr id="25" name="Oval 24"/>
          <p:cNvSpPr/>
          <p:nvPr/>
        </p:nvSpPr>
        <p:spPr>
          <a:xfrm>
            <a:off x="6720840" y="3657600"/>
            <a:ext cx="438912" cy="438912"/>
          </a:xfrm>
          <a:prstGeom prst="ellipse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758184"/>
            <a:ext cx="438912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3566160"/>
            <a:ext cx="38862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C2340"/>
                </a:solidFill>
                <a:latin typeface="Aptos"/>
              </a:rPr>
              <a:t>Download materials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3877056"/>
            <a:ext cx="38862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86576"/>
                </a:solidFill>
                <a:latin typeface="Aptos"/>
              </a:rPr>
              <a:t>Keep the slides and Learner Guide for open-book assessment.</a:t>
            </a:r>
          </a:p>
        </p:txBody>
      </p:sp>
      <p:sp>
        <p:nvSpPr>
          <p:cNvPr id="29" name="Oval 28"/>
          <p:cNvSpPr/>
          <p:nvPr/>
        </p:nvSpPr>
        <p:spPr>
          <a:xfrm>
            <a:off x="6720840" y="4718303"/>
            <a:ext cx="438912" cy="438912"/>
          </a:xfrm>
          <a:prstGeom prst="ellipse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4818888"/>
            <a:ext cx="438912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4626864"/>
            <a:ext cx="38862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C2340"/>
                </a:solidFill>
                <a:latin typeface="Aptos"/>
              </a:rPr>
              <a:t>Submit 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4937759"/>
            <a:ext cx="38862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86576"/>
                </a:solidFill>
                <a:latin typeface="Aptos"/>
              </a:rPr>
              <a:t>Upload assessment answers and complete required attendance.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Your HR AI Workbench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COURSE TOOLS · ALL 12 ACTIVITIES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5715000" cy="429768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521208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71BC"/>
                </a:solidFill>
                <a:latin typeface="Aptos"/>
              </a:rPr>
              <a:t>GENERATIVE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048256"/>
            <a:ext cx="5074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212848"/>
            <a:ext cx="46177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Microsoft 365 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521208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38C5C"/>
                </a:solidFill>
                <a:latin typeface="Aptos"/>
              </a:rPr>
              <a:t>AGENTIC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346704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3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639312"/>
            <a:ext cx="2057400" cy="5943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0C2340"/>
                </a:solidFill>
                <a:latin typeface="Aptos"/>
              </a:rPr>
              <a:t>Agent Builder in
Microsoft 365 Copilot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3346704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3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3639312"/>
            <a:ext cx="2057400" cy="5943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Microsoft
Copilot Studio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56048"/>
            <a:ext cx="507492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586576"/>
                </a:solidFill>
                <a:latin typeface="Aptos"/>
              </a:rPr>
              <a:t>Create with Copilot · orchestrate with agents · govern with human review</a:t>
            </a:r>
          </a:p>
        </p:txBody>
      </p:sp>
      <p:sp>
        <p:nvSpPr>
          <p:cNvPr id="15" name="Oval 14"/>
          <p:cNvSpPr/>
          <p:nvPr/>
        </p:nvSpPr>
        <p:spPr>
          <a:xfrm>
            <a:off x="6720840" y="1536192"/>
            <a:ext cx="438912" cy="438912"/>
          </a:xfrm>
          <a:prstGeom prst="ellipse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1636776"/>
            <a:ext cx="438912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1444752"/>
            <a:ext cx="38862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C2340"/>
                </a:solidFill>
                <a:latin typeface="Aptos"/>
              </a:rPr>
              <a:t>Use synthetic cases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1755648"/>
            <a:ext cx="38862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86576"/>
                </a:solidFill>
                <a:latin typeface="Aptos"/>
              </a:rPr>
              <a:t>Start from the supplied activity records.</a:t>
            </a:r>
          </a:p>
        </p:txBody>
      </p:sp>
      <p:sp>
        <p:nvSpPr>
          <p:cNvPr id="19" name="Oval 18"/>
          <p:cNvSpPr/>
          <p:nvPr/>
        </p:nvSpPr>
        <p:spPr>
          <a:xfrm>
            <a:off x="6720840" y="2596896"/>
            <a:ext cx="438912" cy="438912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2697480"/>
            <a:ext cx="438912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505456"/>
            <a:ext cx="38862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C2340"/>
                </a:solidFill>
                <a:latin typeface="Aptos"/>
              </a:rPr>
              <a:t>Create or analyse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2816352"/>
            <a:ext cx="38862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86576"/>
                </a:solidFill>
                <a:latin typeface="Aptos"/>
              </a:rPr>
              <a:t>Use Microsoft 365 Copilot with approved context.</a:t>
            </a:r>
          </a:p>
        </p:txBody>
      </p:sp>
      <p:sp>
        <p:nvSpPr>
          <p:cNvPr id="23" name="Oval 22"/>
          <p:cNvSpPr/>
          <p:nvPr/>
        </p:nvSpPr>
        <p:spPr>
          <a:xfrm>
            <a:off x="6720840" y="3657600"/>
            <a:ext cx="438912" cy="438912"/>
          </a:xfrm>
          <a:prstGeom prst="ellipse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3758184"/>
            <a:ext cx="438912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3566160"/>
            <a:ext cx="38862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C2340"/>
                </a:solidFill>
                <a:latin typeface="Aptos"/>
              </a:rPr>
              <a:t>Build bounded agents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3877056"/>
            <a:ext cx="38862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86576"/>
                </a:solidFill>
                <a:latin typeface="Aptos"/>
              </a:rPr>
              <a:t>Use Agent Builder or Copilot Studio for governed workflows.</a:t>
            </a:r>
          </a:p>
        </p:txBody>
      </p:sp>
      <p:sp>
        <p:nvSpPr>
          <p:cNvPr id="27" name="Oval 26"/>
          <p:cNvSpPr/>
          <p:nvPr/>
        </p:nvSpPr>
        <p:spPr>
          <a:xfrm>
            <a:off x="6720840" y="4718303"/>
            <a:ext cx="438912" cy="438912"/>
          </a:xfrm>
          <a:prstGeom prst="ellipse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4818888"/>
            <a:ext cx="438912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4626864"/>
            <a:ext cx="38862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C2340"/>
                </a:solidFill>
                <a:latin typeface="Aptos"/>
              </a:rPr>
              <a:t>Test and 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4937759"/>
            <a:ext cx="38862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86576"/>
                </a:solidFill>
                <a:latin typeface="Aptos"/>
              </a:rPr>
              <a:t>Save prompts, checks, revisions and human approvals.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Lesson Plan — 2 Days, 9:00am–6:00pm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SCHEDULE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63040"/>
            <a:ext cx="5212080" cy="416052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463040"/>
            <a:ext cx="5212080" cy="7315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19072"/>
            <a:ext cx="461772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DAY 1 · FRAME &amp; GENERATE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7" y="2240280"/>
            <a:ext cx="3200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6736" y="2176272"/>
            <a:ext cx="416052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C2340"/>
                </a:solidFill>
                <a:latin typeface="Aptos"/>
              </a:rPr>
              <a:t>Welcome, pain points and assessment briefing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2843784"/>
            <a:ext cx="3200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" y="2779776"/>
            <a:ext cx="416052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C2340"/>
                </a:solidFill>
                <a:latin typeface="Aptos"/>
              </a:rPr>
              <a:t>Unit 1 · From Generative AI to Agentic HR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3447288"/>
            <a:ext cx="3200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3383280"/>
            <a:ext cx="416052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C2340"/>
                </a:solidFill>
                <a:latin typeface="Aptos"/>
              </a:rPr>
              <a:t>Labs 1–3 · Talent need, JD and resume screening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7" y="4050791"/>
            <a:ext cx="3200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16736" y="3986783"/>
            <a:ext cx="416052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C2340"/>
                </a:solidFill>
                <a:latin typeface="Aptos"/>
              </a:rPr>
              <a:t>Unit 2 · Microsoft 365 Copilot across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7" y="4654296"/>
            <a:ext cx="3200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6736" y="4590288"/>
            <a:ext cx="416052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Aptos"/>
              </a:rPr>
              <a:t>Labs 4–6 · Interview, onboarding and development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5" y="1463040"/>
            <a:ext cx="5212080" cy="416052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63055" y="1463040"/>
            <a:ext cx="5212080" cy="7315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5" y="1719072"/>
            <a:ext cx="461772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DAY 2 · ORCHESTRATE &amp; GOVERN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3095" y="2240280"/>
            <a:ext cx="3200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1423" y="2176272"/>
            <a:ext cx="416052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C2340"/>
                </a:solidFill>
                <a:latin typeface="Aptos"/>
              </a:rPr>
              <a:t>Retrieval practice and Unit 3 · Governed HR agents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3095" y="2843784"/>
            <a:ext cx="3200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21423" y="2779776"/>
            <a:ext cx="416052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C2340"/>
                </a:solidFill>
                <a:latin typeface="Aptos"/>
              </a:rPr>
              <a:t>Labs 7–9 · Policy, leave and benefits agents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3095" y="3447288"/>
            <a:ext cx="3200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21423" y="3383280"/>
            <a:ext cx="416052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C2340"/>
                </a:solidFill>
                <a:latin typeface="Aptos"/>
              </a:rPr>
              <a:t>Unit 4 · Responsible adoption and operations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3095" y="4050791"/>
            <a:ext cx="3200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21423" y="3986783"/>
            <a:ext cx="416052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C2340"/>
                </a:solidFill>
                <a:latin typeface="Aptos"/>
              </a:rPr>
              <a:t>Labs 10–12 · Wellness, offboarding and control room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3095" y="4654296"/>
            <a:ext cx="3200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1423" y="4590288"/>
            <a:ext cx="416052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Aptos"/>
              </a:rPr>
              <a:t>4:30–6:30pm · WA then Case Study Assessment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Skills Framework — Human Resource Digitalisation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WSQ ALIGNMENT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81328"/>
            <a:ext cx="10835640" cy="502920"/>
          </a:xfrm>
          <a:prstGeom prst="roundRect">
            <a:avLst/>
          </a:prstGeom>
          <a:solidFill>
            <a:srgbClr val="0071BC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618488"/>
            <a:ext cx="228600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TSC element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618488"/>
            <a:ext cx="7498079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Detail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48256"/>
            <a:ext cx="10835640" cy="694944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249424"/>
            <a:ext cx="237744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Aptos"/>
              </a:rPr>
              <a:t>TSC Title /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212848"/>
            <a:ext cx="7498079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C2430"/>
                </a:solidFill>
                <a:latin typeface="Aptos"/>
              </a:rPr>
              <a:t>Human Resource Digitalisation-4 (HRS-HRM-4031-1.1)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889504"/>
            <a:ext cx="1083564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3090672"/>
            <a:ext cx="237744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Aptos"/>
              </a:rPr>
              <a:t>Knowledge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054096"/>
            <a:ext cx="7498079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C2430"/>
                </a:solidFill>
                <a:latin typeface="Aptos"/>
              </a:rPr>
              <a:t>Generative AI, agentic AI and HR digitalisation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730752"/>
            <a:ext cx="10835640" cy="694944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931920"/>
            <a:ext cx="237744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Aptos"/>
              </a:rPr>
              <a:t>Application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895344"/>
            <a:ext cx="7498079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C2430"/>
                </a:solidFill>
                <a:latin typeface="Aptos"/>
              </a:rPr>
              <a:t>Use-case analysis, feasibility, agent design and responsible controls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572000"/>
            <a:ext cx="1083564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4773168"/>
            <a:ext cx="237744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Aptos"/>
              </a:rPr>
              <a:t>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736592"/>
            <a:ext cx="7498079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C2430"/>
                </a:solidFill>
                <a:latin typeface="Aptos"/>
              </a:rPr>
              <a:t>Prompts, outputs, checks, decisions and audit trail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96128"/>
            <a:ext cx="1060704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586576"/>
                </a:solidFill>
                <a:latin typeface="Aptos"/>
              </a:rPr>
              <a:t>Every unit, activity and assessment item maps to this TSC through observable evidence.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BY THE END OF THIS COURSE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108356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1591056"/>
            <a:ext cx="457200" cy="457200"/>
          </a:xfrm>
          <a:prstGeom prst="ellipse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691640"/>
            <a:ext cx="457200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563624"/>
            <a:ext cx="50292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LO1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536192"/>
            <a:ext cx="8915400" cy="47548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Compare how generative and agentic AI reshape HR operating models versus conventional HR delivery.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496312"/>
            <a:ext cx="108356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2670048"/>
            <a:ext cx="457200" cy="45720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770632"/>
            <a:ext cx="457200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642616"/>
            <a:ext cx="50292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LO2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2615184"/>
            <a:ext cx="8915400" cy="47548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Analyse where Microsoft 365 Copilot and AI agents can improve end-to-end HR processes and employee experience.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575304"/>
            <a:ext cx="108356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1248" y="3749040"/>
            <a:ext cx="457200" cy="457200"/>
          </a:xfrm>
          <a:prstGeom prst="ellipse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849624"/>
            <a:ext cx="457200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721608"/>
            <a:ext cx="50292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LO3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3694176"/>
            <a:ext cx="8915400" cy="47548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Conduct feasibility analysis and design a governed implementation for an HR generative-AI or agentic-AI use case.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654296"/>
            <a:ext cx="108356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1248" y="4828032"/>
            <a:ext cx="457200" cy="457200"/>
          </a:xfrm>
          <a:prstGeom prst="ellipse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4928616"/>
            <a:ext cx="457200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800600"/>
            <a:ext cx="50292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LO4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4773168"/>
            <a:ext cx="8915400" cy="47548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Apply legal, ethical, privacy, security, fairness and human-oversight controls to AI-enabled HR work.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Course Outline — Four Learning Units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THE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44752"/>
            <a:ext cx="5212080" cy="1755648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5212080" cy="7315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50292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071BC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1627632"/>
            <a:ext cx="3977639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From Generative AI to Agentic HR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2267712"/>
            <a:ext cx="3977639" cy="5669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86576"/>
                </a:solidFill>
                <a:latin typeface="Aptos"/>
              </a:rPr>
              <a:t>Choose the lightest capability that safely solves the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5" y="1444752"/>
            <a:ext cx="5212080" cy="1755648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63055" y="1444752"/>
            <a:ext cx="5212080" cy="7315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664208"/>
            <a:ext cx="50292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0A6A6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77455" y="1627632"/>
            <a:ext cx="3977639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Microsoft 365 Copilot Across the HR Lifecycle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77455" y="2267712"/>
            <a:ext cx="3977639" cy="5669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86576"/>
                </a:solidFill>
                <a:latin typeface="Aptos"/>
              </a:rPr>
              <a:t>Generate and analyse with a human in control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566160"/>
            <a:ext cx="5212080" cy="1755648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566160"/>
            <a:ext cx="5212080" cy="7315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85615"/>
            <a:ext cx="50292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38C5C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3749039"/>
            <a:ext cx="3977639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Build Governed HR 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389120"/>
            <a:ext cx="3977639" cy="5669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86576"/>
                </a:solidFill>
                <a:latin typeface="Aptos"/>
              </a:rPr>
              <a:t>Agent Builder for knowledge; Copilot Studio for orchestration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5" y="3566160"/>
            <a:ext cx="5212080" cy="1755648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63055" y="3566160"/>
            <a:ext cx="5212080" cy="7315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785615"/>
            <a:ext cx="50292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EE7E20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77455" y="3749039"/>
            <a:ext cx="3977639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Responsible Adoption and HR Transformation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77455" y="4389120"/>
            <a:ext cx="3977639" cy="5669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86576"/>
                </a:solidFill>
                <a:latin typeface="Aptos"/>
              </a:rPr>
              <a:t>Govern decisions, data, people and agent operations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C43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Briefing for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READINESS · PRACTICE · CONFIDENTIALITY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6537960" cy="448056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719072"/>
            <a:ext cx="594360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4363E"/>
                </a:solidFill>
                <a:latin typeface="Aptos"/>
              </a:rPr>
              <a:t>ASSESSMENT READINESS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176272"/>
            <a:ext cx="5989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377440"/>
            <a:ext cx="45720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4363E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2313432"/>
            <a:ext cx="196596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Know the instruments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5887" y="2295144"/>
            <a:ext cx="2880360" cy="49377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86576"/>
                </a:solidFill>
                <a:latin typeface="Aptos"/>
              </a:rPr>
              <a:t>Written Assessment and Case Study; 60 minutes each; open book.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00400"/>
            <a:ext cx="5989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01568"/>
            <a:ext cx="45720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4363E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55648" y="3337560"/>
            <a:ext cx="196596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Protect the assessment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3319272"/>
            <a:ext cx="2880360" cy="49377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86576"/>
                </a:solidFill>
                <a:latin typeface="Aptos"/>
              </a:rPr>
              <a:t>Work individually. Do not photograph, record, discuss or share assessment content.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224528"/>
            <a:ext cx="5989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425696"/>
            <a:ext cx="45720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4363E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5648" y="4361688"/>
            <a:ext cx="196596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Submit complete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5887" y="4343400"/>
            <a:ext cx="2880360" cy="49377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86576"/>
                </a:solidFill>
                <a:latin typeface="Aptos"/>
              </a:rPr>
              <a:t>Answer every part, protect personal data and follow the assessor's LMS instructions.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61504" y="1417320"/>
            <a:ext cx="4041648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1737360"/>
            <a:ext cx="3401568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PRACTICE EXAM 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240280"/>
            <a:ext cx="324612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C2340"/>
                </a:solidFill>
                <a:latin typeface="Aptos"/>
              </a:rPr>
              <a:t>Build confidence before assessment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3172968"/>
            <a:ext cx="3401568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18704" y="3364992"/>
            <a:ext cx="3108960" cy="2468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exams.tertiaryinfotech.com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187952"/>
            <a:ext cx="3246120" cy="9601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86576"/>
                </a:solidFill>
                <a:latin typeface="Aptos"/>
              </a:rPr>
              <a:t>Use the practice platform only for preparation. The actual WSQ assessment remains on the LMS and follows the assessor's instructions.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5330952"/>
            <a:ext cx="324612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C4363E"/>
                </a:solidFill>
                <a:latin typeface="Aptos"/>
              </a:rPr>
              <a:t>Practice does not replace the official assessment.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C43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Final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TWO INSTRUMENTS · INDIVIDUAL · OPEN BOOK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" y="1572768"/>
            <a:ext cx="5230368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828800"/>
            <a:ext cx="4590288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100" b="1">
                <a:solidFill>
                  <a:srgbClr val="0C2340"/>
                </a:solidFill>
                <a:latin typeface="Aptos"/>
              </a:rPr>
              <a:t>Written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350008"/>
            <a:ext cx="452628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C4363E"/>
                </a:solidFill>
                <a:latin typeface="Aptos"/>
              </a:rPr>
              <a:t>K1–K5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926080"/>
            <a:ext cx="457200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C2430"/>
                </a:solidFill>
                <a:latin typeface="Aptos"/>
              </a:rPr>
              <a:t>Five open-response questions · 60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01384" y="1572768"/>
            <a:ext cx="5230368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93992" y="1828800"/>
            <a:ext cx="4590288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100" b="1">
                <a:solidFill>
                  <a:srgbClr val="0C2340"/>
                </a:solidFill>
                <a:latin typeface="Aptos"/>
              </a:rPr>
              <a:t>Case Study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3992" y="2350008"/>
            <a:ext cx="452628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C4363E"/>
                </a:solidFill>
                <a:latin typeface="Aptos"/>
              </a:rPr>
              <a:t>A1–A5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3992" y="2926080"/>
            <a:ext cx="457200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C2430"/>
                </a:solidFill>
                <a:latin typeface="Aptos"/>
              </a:rPr>
              <a:t>Five applied questions · 60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" y="4361688"/>
            <a:ext cx="10954512" cy="1033271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4572000"/>
            <a:ext cx="10424160" cy="6675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0C2340"/>
                </a:solidFill>
                <a:latin typeface="Aptos"/>
              </a:rPr>
              <a:t>Attendance → complete both papers → submit on LMS → sign Assessment Summary Record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824728"/>
            <a:ext cx="10424160" cy="3017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Assessment decisions can be appealed through the published process.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Assessment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ON ASSESSMENT 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1874519" cy="324612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874519" cy="7315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16736" y="1993392"/>
            <a:ext cx="566928" cy="566928"/>
          </a:xfrm>
          <a:prstGeom prst="ellipse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6736" y="2148840"/>
            <a:ext cx="566928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971800"/>
            <a:ext cx="1545336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C2340"/>
                </a:solidFill>
                <a:latin typeface="Aptos"/>
              </a:rPr>
              <a:t>TRAQOM survey
on the LMS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788920"/>
            <a:ext cx="310896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071BC"/>
                </a:solidFill>
                <a:latin typeface="Aptos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1572768"/>
            <a:ext cx="1874519" cy="324612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80360" y="1572768"/>
            <a:ext cx="1874519" cy="7315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38728" y="1993392"/>
            <a:ext cx="566928" cy="566928"/>
          </a:xfrm>
          <a:prstGeom prst="ellipse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8728" y="2148840"/>
            <a:ext cx="566928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4952" y="2971800"/>
            <a:ext cx="1545336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C2340"/>
                </a:solidFill>
                <a:latin typeface="Aptos"/>
              </a:rPr>
              <a:t>Assessment digital
attendance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2788920"/>
            <a:ext cx="310896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071BC"/>
                </a:solidFill>
                <a:latin typeface="Aptos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02352" y="1572768"/>
            <a:ext cx="1874519" cy="324612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02352" y="1572768"/>
            <a:ext cx="1874519" cy="7315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60720" y="1993392"/>
            <a:ext cx="566928" cy="566928"/>
          </a:xfrm>
          <a:prstGeom prst="ellipse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2148840"/>
            <a:ext cx="566928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66944" y="2971800"/>
            <a:ext cx="1545336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C2340"/>
                </a:solidFill>
                <a:latin typeface="Aptos"/>
              </a:rPr>
              <a:t>Sit WA then
Case Study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04304" y="2788920"/>
            <a:ext cx="310896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071BC"/>
                </a:solidFill>
                <a:latin typeface="Aptos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24344" y="1572768"/>
            <a:ext cx="1874519" cy="324612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24344" y="1572768"/>
            <a:ext cx="1874519" cy="7315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82712" y="1993392"/>
            <a:ext cx="566928" cy="566928"/>
          </a:xfrm>
          <a:prstGeom prst="ellipse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82712" y="2148840"/>
            <a:ext cx="566928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88936" y="2971800"/>
            <a:ext cx="1545336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C2340"/>
                </a:solidFill>
                <a:latin typeface="Aptos"/>
              </a:rPr>
              <a:t>Submit answers
on the LMS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6296" y="2788920"/>
            <a:ext cx="310896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071BC"/>
                </a:solidFill>
                <a:latin typeface="Aptos"/>
              </a:rPr>
              <a:t>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46336" y="1572768"/>
            <a:ext cx="1874519" cy="324612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46336" y="1572768"/>
            <a:ext cx="1874519" cy="7315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04704" y="1993392"/>
            <a:ext cx="566928" cy="566928"/>
          </a:xfrm>
          <a:prstGeom prst="ellipse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04704" y="2148840"/>
            <a:ext cx="566928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10928" y="2971800"/>
            <a:ext cx="1545336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C2340"/>
                </a:solidFill>
                <a:latin typeface="Aptos"/>
              </a:rPr>
              <a:t>Sign Assessment
Summary Record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58368"/>
            <a:ext cx="182880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LEARNING UNIT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515600" cy="10972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3800" b="1">
                <a:solidFill>
                  <a:srgbClr val="0C2340"/>
                </a:solidFill>
                <a:latin typeface="Aptos"/>
              </a:rPr>
              <a:t>From Generative AI to Agentic HR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743200"/>
            <a:ext cx="98755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0">
                <a:solidFill>
                  <a:srgbClr val="586576"/>
                </a:solidFill>
                <a:latin typeface="Aptos"/>
              </a:rPr>
              <a:t>Choose the lightest capability that safely solves the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4160520"/>
            <a:ext cx="2423160" cy="658368"/>
          </a:xfrm>
          <a:prstGeom prst="roundRect">
            <a:avLst/>
          </a:prstGeom>
          <a:solidFill>
            <a:srgbClr val="0071BC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FRAME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5848" y="4160520"/>
            <a:ext cx="24231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4728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586576"/>
                </a:solidFill>
                <a:latin typeface="Aptos"/>
              </a:rPr>
              <a:t>GENERATE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53328" y="4160520"/>
            <a:ext cx="24231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4476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586576"/>
                </a:solidFill>
                <a:latin typeface="Aptos"/>
              </a:rPr>
              <a:t>ORCHESTRATE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50808" y="4160520"/>
            <a:ext cx="24231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224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586576"/>
                </a:solidFill>
                <a:latin typeface="Aptos"/>
              </a:rPr>
              <a:t>GOVERN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715000"/>
            <a:ext cx="987552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Concepts → evidence → activity → reflection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Today's HR operating pain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Fragmented channels and repeated hand-offs trap HR capacity in administration.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Requests arrive through email, forms and chat with no shared case 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HR rekeys the same data across trackers, documents and systems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Employees and managers wait for inconsistent answers and approvals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Evidence, ownership and exceptions are difficult to trace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The strategic case for HR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Automate routine work so HR can deliver faster service and more strategic value.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Reduce administrative work and avoidable rekeying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Improve productivity, efficiency and response consistency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Return capacity to workforce strategy, coaching and employee care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Use human-AI partnerships to connect the people agenda to business outcomes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Why now: the people and AI agendas converge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HR must build internal capability while helping the enterprise navigate AI disruption.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79% of surveyed leaders expected GenAI to substantially transform their organisation or industry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72% expected GenAI to change talent strategies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Only 23% reported GenAI investment in HR in the cited study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81% said business and people agendas had never been more intertwined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The HR AI continuum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Automation follows rules; copilots create; agents pursue bounded goals.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Rules automate predictable hand-offs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Microsoft 365 Copilot drafts, summarises and analyses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Agents reason, plan, use tools and 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Humans retain accountability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Four shifts in HR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AI value moves from efficiency to new human and enterprise value.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Automate: eliminate repetitive work about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Augment: support people to improve productivity and experience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Extend: analyse and personalise at a scale humans cannot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Create: design, test and operate new AI-enabled HR services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HR's own AI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HR moves incrementally from AI-assisted to AI-augmented and AI-powered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AI-assisted: humans own the work with moderate AI support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AI-augmented: people and AI collaborate with frequent hand-offs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AI-powered: AI handles bounded work while people monitor and improve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Fully autonomous HR remains rare; human accountability endures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Conventional HR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Queues and hand-offs make service slow and opaque.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240280"/>
            <a:ext cx="38862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2487168"/>
            <a:ext cx="3429000" cy="8229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C2340"/>
                </a:solidFill>
                <a:latin typeface="Aptos"/>
              </a:rPr>
              <a:t>Queues and hand-offs make service slow and opaque.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Requests arrive through email and forms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Specialists search systems manually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Approvals cross organisational boundaries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8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Evidence is scattered across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Copilot-assisted HR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 human remains the operator while Copilot accelerates knowledge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Ground prompts in approved work content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Generate a first draft, not a final decision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Compare and refine with domain expertise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Record source and reviewer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Agent-enabled HR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An agent can coordinate a bounded workflow across systems.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Interpret an employee intent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Retrieve policy and contextual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Call approved tools and workflows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Escalate exceptions with an audit trail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Assistant, agent or workflow?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the simplest lever that meets the outcome and risk profile.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Copilot: create or analyse with a person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Agent: converse, reason and orchestrate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Flow: deterministic transaction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Hybrid: agent front door plus governed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The Microsoft HR AI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Microsoft 365 Copilot and Copilot Studio play different but complementary roles.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240280"/>
            <a:ext cx="38862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2487168"/>
            <a:ext cx="3429000" cy="8229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C2340"/>
                </a:solidFill>
                <a:latin typeface="Aptos"/>
              </a:rPr>
              <a:t>Microsoft 365 Copilot and Copilot Studio play different but complementary roles.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Word and Outlook: content and communication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Excel: evidence and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Teams and SharePoint: collaboration and knowledge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8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Copilot Studio: agents, tools, flows and channels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AI-powered HR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An AI and data core needs strategy, product, engineering, insight and people-operations capabilities around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240280"/>
            <a:ext cx="38862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2487168"/>
            <a:ext cx="3429000" cy="8229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C2340"/>
                </a:solidFill>
                <a:latin typeface="Aptos"/>
              </a:rPr>
              <a:t>An AI and data core needs strategy, product, engineering, insight and people-operations capabilities around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HR strategy, governance and portfolio management set value and risk priorities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Workforce solution architects and an innovation hub design human-centred services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Solution DevOps and sustainment operate agents, integrations and controls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8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People operations and workforce engagement keep employee outcomes visible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Agent anatomy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Reliable agents need a goal, knowledge, instructions, tools, boundaries and tests.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Goal defines the employee outcome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Knowledge constrains grounded answers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Instructions set behaviour and refusal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Tools act; tests prove expected behaviour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HR lifecycle opportunity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AI value appears across attract, join, grow, serve and exit.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Attract: workforce planning and recruitment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Join: onboarding and access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Grow: performance, learning and mobility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Serve and exit: policy, leave, cases and offboarding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Value without losing the human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Saved time should be redirected to judgement, coaching and care.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240280"/>
            <a:ext cx="38862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2487168"/>
            <a:ext cx="3429000" cy="8229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C2340"/>
                </a:solidFill>
                <a:latin typeface="Aptos"/>
              </a:rPr>
              <a:t>Saved time should be redirected to judgement, coaching and care.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Reduce repetitive search and drafting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Improve access and consistency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Create capacity for human conversations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8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Do not automate empathy or accountability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Use-case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Start with frequent, bounded and measurable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High volume and clear policy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Reliable knowledge and integrations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Reversible actions and escalation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A KPI baseline and accountable owner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Feasibility 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 good idea is not yet a deployable use case.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Business value and employee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Data readiness and permissions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Technical reach and failure modes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Risk, change and operating ownership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From pilot to operating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 pilot must prove usefulness, control and adoption together.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Define baseline and success threshold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Use synthetic data before live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Test normal, edge and adversarial cases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Assign monitoring, review and retirement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01 | Source fields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Read the supplied synthetic CSV before asking Copilot to reason over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789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mock-data.csv  •  5 records  •  7 fields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period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8728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2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forecast orders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91656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overtime hours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44584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0888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open roles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current analysts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38728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85032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forecast growth pct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91656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source note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33872"/>
            <a:ext cx="1078992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71BC"/>
                </a:solidFill>
                <a:latin typeface="Aptos"/>
              </a:rPr>
              <a:t>Source boundary  →  Synthetic records only; verify row IDs and field meaning before output.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01 | Evidence sample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Compare the output against real rows in the supplied lab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2121408" cy="548640"/>
          </a:xfrm>
          <a:prstGeom prst="rect">
            <a:avLst/>
          </a:prstGeom>
          <a:solidFill>
            <a:srgbClr val="0071BC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period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39" y="1508760"/>
            <a:ext cx="2121408" cy="548640"/>
          </a:xfrm>
          <a:prstGeom prst="rect">
            <a:avLst/>
          </a:prstGeom>
          <a:solidFill>
            <a:srgbClr val="0071BC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4436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forecast orders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508760"/>
            <a:ext cx="2121408" cy="548640"/>
          </a:xfrm>
          <a:prstGeom prst="rect">
            <a:avLst/>
          </a:prstGeom>
          <a:solidFill>
            <a:srgbClr val="0071BC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3892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overtime hours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59" y="1508760"/>
            <a:ext cx="2121408" cy="548640"/>
          </a:xfrm>
          <a:prstGeom prst="rect">
            <a:avLst/>
          </a:prstGeom>
          <a:solidFill>
            <a:srgbClr val="0071BC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348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open roles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19" y="1508760"/>
            <a:ext cx="2121408" cy="548640"/>
          </a:xfrm>
          <a:prstGeom prst="rect">
            <a:avLst/>
          </a:prstGeom>
          <a:solidFill>
            <a:srgbClr val="0071BC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8047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source note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1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2026-Q1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3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7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42000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820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5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19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1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5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Synthetic operations forecast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1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2026-Q2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3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7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46800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1010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5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19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1831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5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Synthetic operations forecast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1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2026-Q3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3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2607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53500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0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1380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5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19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1831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5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New hub scenario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650992"/>
            <a:ext cx="1078992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Evidence check  →  Point to the source row and column before accepting a summary or recommendation.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01 | Prompt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named fields, a bounded task and a verifiable output shape.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53312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99616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463040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Act as an HR analyst for the synthetic assess talent needs with copilot case.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76856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386584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Use only mock-data.csv; cite period and forecast_orders for each claim.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46704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310128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Use Microsoft 365 Copilot to turn operational evidence into a transparent hire, redeploy or develop recommendation.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23944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70248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4233672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Return a table: source record | observation | uncertainty | recommendation | human check.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47488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93792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STOP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5157216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Write UNKNOWN when evidence is missing. Do not take a consequential HR action.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01 | Controlled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The agent or Copilot prepares evidence; an authorised person controls the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period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090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79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39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ANALYSE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Excel with Microsoft 365 Copilot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9262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239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Cite the supplied cells and records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4344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19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APPROVE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1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HR process owner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2124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RECORD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583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Talent-demand evidence 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47488"/>
            <a:ext cx="1051560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C2430"/>
                </a:solidFill>
                <a:latin typeface="Aptos"/>
              </a:rPr>
              <a:t>Audit trail: source ID → prompt/instructions → output → verification → approval → final 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01 | Verification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 claim passes only when the source, control and reviewer agree.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56362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Match period to the CSV 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156362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Row exists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7919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Meaning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66090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Interpret forecast_orders using the scenario 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66090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No invented 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1188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7647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75818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Cite the supplied cells and records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375818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Human check recorded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09159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73751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Boundary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485546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Business and HR owners approve the demand hypothesis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485546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Escalate exception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01 | Exception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Test normal and failure paths before a learner marks the solution ready.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0472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Normal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444752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2026-Q1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44752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Grounded result with source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203704"/>
            <a:ext cx="10835640" cy="72237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68296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Missing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322576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source_note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322576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Clarify or mark UNKNOWN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081528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46120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Unauthorised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200400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Cross-employee 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00400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Refuse and escalate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959352"/>
            <a:ext cx="10835640" cy="72237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23944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Failure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078224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Tool/connector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078224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No false success; retain audit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837176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001768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Duplicate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4956048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Same request twice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956048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One action or safe rejection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97880"/>
            <a:ext cx="106984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4363E"/>
                </a:solidFill>
                <a:latin typeface="Aptos"/>
              </a:rPr>
              <a:t>Pass only with recorded actual result, reviewer and evidence reference.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01 | Evidence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Submit a traceable artifact, not a polished output alone.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28216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Talent-demand evidence 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42032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15768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Skills-gap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529584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703320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Hire-redeploy-develop recommendation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246120" cy="333756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810512"/>
            <a:ext cx="265176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RELEASE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340864"/>
            <a:ext cx="2651760" cy="22677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Aptos"/>
              </a:rPr>
              <a:t>Source linked
Uncertainty stated
Human owner named
Failure case tested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15000"/>
            <a:ext cx="1060704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71BC"/>
                </a:solidFill>
                <a:latin typeface="Aptos"/>
              </a:rPr>
              <a:t>Save in Lab-01-Evidence-Workbook.xlsx  •  include prompt, output, checks and revision.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1: Assess Talent Needs with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Microsoft 365 Copilot to turn operational evidence into a transparent hire, redeploy or develop recommendation.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62940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64208"/>
            <a:ext cx="1280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6080760" cy="9601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HarbourLight Logistics SG is opening a digitally enabled distribution hub. HR receives demand forecasts, overtime data, vacancy history and a skills inventory in separate files, so workforce decisions are slow and reactive.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17320"/>
            <a:ext cx="4023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1664208"/>
            <a:ext cx="13716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2029968"/>
            <a:ext cx="3429000" cy="10058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• Excel with Microsoft 365 Copilot
• Teams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Talent-demand evidence map
• Skills-gap analysis
• Hire-redeploy-develop recommendation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Cite the supplied cells and records
• Separate fact from forecast
• Business and HR owners approve the demand hypothesis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07024"/>
            <a:ext cx="107899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86576"/>
                </a:solidFill>
                <a:latin typeface="Aptos"/>
              </a:rPr>
              <a:t>Detailed procedure, prompts and evidence checklist: Learner Guide + lab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 success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Show your reasoning—not only a polished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Use the supplied synthetic case and approved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State assumptions, criteria and the human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5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Save prompts, output, checks, revisions and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Pass the acceptance criteria and answer reflection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7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4363E"/>
                </a:solidFill>
                <a:latin typeface="Aptos"/>
              </a:rPr>
              <a:t>Stop if the agent or Copilot output cannot be traced, corrected or safely escalated.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02 | Source fields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Read the supplied synthetic CSV before asking Copilot to reason over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789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mock-data.csv  •  4 records  •  6 fields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role outcome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8728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2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essential skill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91656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trainable skill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44584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0888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success measure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legacy requirement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38728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85032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review 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833872"/>
            <a:ext cx="1078992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71BC"/>
                </a:solidFill>
                <a:latin typeface="Aptos"/>
              </a:rPr>
              <a:t>Source boundary  →  Synthetic records only; verify row IDs and field meaning before output.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02 | Evidence sample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Compare the output against real rows in the supplied lab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2121408" cy="548640"/>
          </a:xfrm>
          <a:prstGeom prst="rect">
            <a:avLst/>
          </a:prstGeom>
          <a:solidFill>
            <a:srgbClr val="0071BC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role outcome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39" y="1508760"/>
            <a:ext cx="2121408" cy="548640"/>
          </a:xfrm>
          <a:prstGeom prst="rect">
            <a:avLst/>
          </a:prstGeom>
          <a:solidFill>
            <a:srgbClr val="0071BC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4436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essential skill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508760"/>
            <a:ext cx="2121408" cy="548640"/>
          </a:xfrm>
          <a:prstGeom prst="rect">
            <a:avLst/>
          </a:prstGeom>
          <a:solidFill>
            <a:srgbClr val="0071BC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3892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trainable skill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59" y="1508760"/>
            <a:ext cx="2121408" cy="548640"/>
          </a:xfrm>
          <a:prstGeom prst="rect">
            <a:avLst/>
          </a:prstGeom>
          <a:solidFill>
            <a:srgbClr val="0071BC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348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success measure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19" y="1508760"/>
            <a:ext cx="2121408" cy="548640"/>
          </a:xfrm>
          <a:prstGeom prst="rect">
            <a:avLst/>
          </a:prstGeom>
          <a:solidFill>
            <a:srgbClr val="0071BC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8047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review 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1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Translate hub data into staffing actions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3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7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Spreadsheet analysis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Power BI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5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19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Weekly plan accepted by operations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1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5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Challenge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1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Improve workforce scheduling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3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7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Demand and capacity reasoning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SQL basics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5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19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Overtime variance reduced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1831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5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Remove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1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Explain insights to managers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3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2607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Stakeholder communication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0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Facilitation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5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19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Actions documented and owned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1831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5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Remove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650992"/>
            <a:ext cx="1078992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Evidence check  →  Point to the source row and column before accepting a summary or recommendation.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02 | Prompt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named fields, a bounded task and a verifiable output shape.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53312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99616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463040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Act as an HR analyst for the synthetic draft an inclusive job description with generative ai case.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76856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386584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Use only mock-data.csv; cite role_outcome and essential_skill for each claim.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46704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310128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Use Word Copilot to draft a skills-based, inclusive and approval-ready job description grounded in the approved talent need.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23944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70248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4233672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Return a table: source record | observation | uncertainty | recommendation | human check.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47488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93792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STOP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5157216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Write UNKNOWN when evidence is missing. Do not take a consequential HR action.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02 | Controlled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The agent or Copilot prepares evidence; an authorised person controls the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role outcome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090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79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39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ANALYSE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Word with Microsoft 365 Copilot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9262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239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Use job-related criteria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4344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19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APPROVE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1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HR process owner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2124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RECORD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583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Role-outcome 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47488"/>
            <a:ext cx="1051560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C2430"/>
                </a:solidFill>
                <a:latin typeface="Aptos"/>
              </a:rPr>
              <a:t>Audit trail: source ID → prompt/instructions → output → verification → approval → final 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02 | Verification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 claim passes only when the source, control and reviewer agree.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56362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Match role_outcome to the CSV 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156362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Row exists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7919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Meaning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66090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Interpret essential_skill using the scenario 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66090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No invented 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1188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7647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75818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Use job-related criteria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375818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Human check recorded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09159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73751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Boundary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485546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Hiring manager and HR approve every requirement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485546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Escalate exception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02 | Exception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Test normal and failure paths before a learner marks the solution ready.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0472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Normal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444752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Translate hub data into staffing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44752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Grounded result with source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203704"/>
            <a:ext cx="10835640" cy="72237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68296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Missing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322576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review_status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322576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Clarify or mark UNKNOWN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081528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46120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Unauthorised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200400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Cross-employee 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00400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Refuse and escalate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959352"/>
            <a:ext cx="10835640" cy="72237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23944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Failure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078224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Tool/connector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078224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No false success; retain audit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837176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001768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Duplicate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4956048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Same request twice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956048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One action or safe rejection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97880"/>
            <a:ext cx="106984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4363E"/>
                </a:solidFill>
                <a:latin typeface="Aptos"/>
              </a:rPr>
              <a:t>Pass only with recorded actual result, reviewer and evidence reference.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02 | Evidence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Submit a traceable artifact, not a polished output alone.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28216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Role-outcome 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42032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15768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Inclusive job description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529584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703320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Hiring-manager validation checklist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246120" cy="333756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810512"/>
            <a:ext cx="265176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RELEASE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340864"/>
            <a:ext cx="2651760" cy="22677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Aptos"/>
              </a:rPr>
              <a:t>Source linked
Uncertainty stated
Human owner named
Failure case tested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15000"/>
            <a:ext cx="1060704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71BC"/>
                </a:solidFill>
                <a:latin typeface="Aptos"/>
              </a:rPr>
              <a:t>Save in Lab-02-Evidence-Workbook.xlsx  •  include prompt, output, checks and revision.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C2340"/>
                </a:solidFill>
                <a:latin typeface="Aptos"/>
              </a:rPr>
              <a:t>Lab 2: Draft an Inclusive Job Description with Generative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Word Copilot to draft a skills-based, inclusive and approval-ready job description grounded in the approved talent need.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62940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64208"/>
            <a:ext cx="1280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6080760" cy="9601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Lab 1 established a need for a Workforce Operations Analyst. The old JD is task-heavy, contains copied requirements and does not reflect the outcomes or skills needed at the new hub.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17320"/>
            <a:ext cx="4023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1664208"/>
            <a:ext cx="13716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2029968"/>
            <a:ext cx="3429000" cy="10058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• Word with Microsoft 365 Copilot
• Excel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Role-outcome map
• Inclusive job description
• Hiring-manager validation checklist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Use job-related criteria only
• Distinguish essential from trainable skills
• Hiring manager and HR approve every requirement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07024"/>
            <a:ext cx="107899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86576"/>
                </a:solidFill>
                <a:latin typeface="Aptos"/>
              </a:rPr>
              <a:t>Detailed procedure, prompts and evidence checklist: Learner Guide + lab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2 success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Show your reasoning—not only a polished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Use the supplied synthetic case and approved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State assumptions, criteria and the human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5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Save prompts, output, checks, revisions and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Pass the acceptance criteria and answer reflection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7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4363E"/>
                </a:solidFill>
                <a:latin typeface="Aptos"/>
              </a:rPr>
              <a:t>Stop if the agent or Copilot output cannot be traced, corrected or safely escalated.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03 | Source fields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Read the supplied synthetic CSV before asking Copilot to reason over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789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mock-data.csv  •  6 records  •  6 fields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candidate 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8728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2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skills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91656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operations evidence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44584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0888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analytics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communication 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38728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85032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missing or uncertain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833872"/>
            <a:ext cx="1078992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71BC"/>
                </a:solidFill>
                <a:latin typeface="Aptos"/>
              </a:rPr>
              <a:t>Source boundary  →  Synthetic records only; verify row IDs and field meaning before output.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03 | Evidence sample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Compare the output against real rows in the supplied lab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2121408" cy="548640"/>
          </a:xfrm>
          <a:prstGeom prst="rect">
            <a:avLst/>
          </a:prstGeom>
          <a:solidFill>
            <a:srgbClr val="0071BC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candidate id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39" y="1508760"/>
            <a:ext cx="2121408" cy="548640"/>
          </a:xfrm>
          <a:prstGeom prst="rect">
            <a:avLst/>
          </a:prstGeom>
          <a:solidFill>
            <a:srgbClr val="0071BC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4436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skills evidence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508760"/>
            <a:ext cx="2121408" cy="548640"/>
          </a:xfrm>
          <a:prstGeom prst="rect">
            <a:avLst/>
          </a:prstGeom>
          <a:solidFill>
            <a:srgbClr val="0071BC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3892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operations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59" y="1508760"/>
            <a:ext cx="2121408" cy="548640"/>
          </a:xfrm>
          <a:prstGeom prst="rect">
            <a:avLst/>
          </a:prstGeom>
          <a:solidFill>
            <a:srgbClr val="0071BC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348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analytics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19" y="1508760"/>
            <a:ext cx="2121408" cy="548640"/>
          </a:xfrm>
          <a:prstGeom prst="rect">
            <a:avLst/>
          </a:prstGeom>
          <a:solidFill>
            <a:srgbClr val="0071BC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8047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missing or uncertain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1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CAND-01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3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7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Excel dashboards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Warehouse reporting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5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19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Weekly KPI analysis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1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5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No SQL evidence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1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CAND-02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3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7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Process mapping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Distribution operations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5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19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Power BI portfolio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1831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5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Outcomes not quantified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1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CAND-03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3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2607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Inventory analysis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0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Shift support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5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19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SQL basics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1831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5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Facilitation evidence limited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650992"/>
            <a:ext cx="1078992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Evidence check  →  Point to the source row and column before accepting a summary or recommendation.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03 | Prompt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named fields, a bounded task and a verifiable output shape.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53312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99616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463040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Act as an HR analyst for the synthetic screen resumes with a fair evidence matrix case.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76856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386584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Use only mock-data.csv; cite candidate_id and skills_evidence for each claim.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46704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310128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Use Microsoft 365 Copilot to extract job-related evidence at speed while keeping shortlist decisions human, traceable and reviewable.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23944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70248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4233672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Return a table: source record | observation | uncertainty | recommendation | human check.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47488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93792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STOP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5157216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Write UNKNOWN when evidence is missing. Do not take a consequential HR action.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03 | Controlled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The agent or Copilot prepares evidence; an authorised person controls the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candidate 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090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79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39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ANALYSE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Excel with Microsoft 365 Copilot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9262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239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Synthetic resumes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4344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19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APPROVE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1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HR process owner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2124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RECORD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583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Candidate evidence matrix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47488"/>
            <a:ext cx="1051560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C2430"/>
                </a:solidFill>
                <a:latin typeface="Aptos"/>
              </a:rPr>
              <a:t>Audit trail: source ID → prompt/instructions → output → verification → approval → final 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03 | Verification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 claim passes only when the source, control and reviewer agree.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56362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Match candidate_id to the CSV 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156362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Row exists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7919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Meaning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66090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Interpret skills_evidence using the scenario 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66090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No invented 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1188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7647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75818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Synthetic resumes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375818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Human check recorded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09159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73751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Boundary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485546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AI may organise evidence but cannot reject a candidate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485546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Escalate exception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03 | Exception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Test normal and failure paths before a learner marks the solution ready.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0472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Normal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444752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CAND-01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44752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Grounded result with source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203704"/>
            <a:ext cx="10835640" cy="72237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68296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Missing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322576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missing_or_uncertain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322576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Clarify or mark UNKNOWN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081528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46120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Unauthorised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200400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Cross-employee 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00400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Refuse and escalate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959352"/>
            <a:ext cx="10835640" cy="72237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23944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Failure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078224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Tool/connector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078224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No false success; retain audit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837176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001768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Duplicate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4956048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Same request twice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956048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One action or safe rejection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97880"/>
            <a:ext cx="106984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4363E"/>
                </a:solidFill>
                <a:latin typeface="Aptos"/>
              </a:rPr>
              <a:t>Pass only with recorded actual result, reviewer and evidence reference.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03 | Evidence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Submit a traceable artifact, not a polished output alone.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28216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Candidate evidence matrix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42032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15768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Uncertainty and bias 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529584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703320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Human shortlist rationale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246120" cy="333756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810512"/>
            <a:ext cx="265176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RELEASE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340864"/>
            <a:ext cx="2651760" cy="22677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Aptos"/>
              </a:rPr>
              <a:t>Source linked
Uncertainty stated
Human owner named
Failure case tested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15000"/>
            <a:ext cx="1060704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71BC"/>
                </a:solidFill>
                <a:latin typeface="Aptos"/>
              </a:rPr>
              <a:t>Save in Lab-03-Evidence-Workbook.xlsx  •  include prompt, output, checks and revision.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3: Screen Resumes with a Fair Evidence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Microsoft 365 Copilot to extract job-related evidence at speed while keeping shortlist decisions human, traceable and reviewable.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62940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64208"/>
            <a:ext cx="1280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6080760" cy="9601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Six synthetic candidates apply for the Workforce Operations Analyst role from Lab 2. Recruiters currently scan resumes inconsistently and retype evidence into spreadsheets.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17320"/>
            <a:ext cx="4023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1664208"/>
            <a:ext cx="13716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2029968"/>
            <a:ext cx="3429000" cy="10058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• Excel with Microsoft 365 Copilot
• Word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Candidate evidence matrix
• Uncertainty and bias log
• Human shortlist rationale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Synthetic resumes only
• Protected attributes and proxies excluded
• AI may organise evidence but cannot reject a candidate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07024"/>
            <a:ext cx="107899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86576"/>
                </a:solidFill>
                <a:latin typeface="Aptos"/>
              </a:rPr>
              <a:t>Detailed procedure, prompts and evidence checklist: Learner Guide + lab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3 success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Show your reasoning—not only a polished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Use the supplied synthetic case and approved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State assumptions, criteria and the human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5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Save prompts, output, checks, revisions and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Pass the acceptance criteria and answer reflection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7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4363E"/>
                </a:solidFill>
                <a:latin typeface="Aptos"/>
              </a:rPr>
              <a:t>Stop if the agent or Copilot output cannot be traced, corrected or safely escalated.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Unit 1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Connect concept, evidence and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2821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Key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350008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Choose the lightest capability that safely solves the 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508760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72821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350008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What would make the recommendation reviewable?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26179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82211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945635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Human 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567427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Who remains accountable?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3726179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982211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945635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Next move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567427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What will you test or change?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58368"/>
            <a:ext cx="182880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LEARNING UNIT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515600" cy="10972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3800" b="1">
                <a:solidFill>
                  <a:srgbClr val="0C2340"/>
                </a:solidFill>
                <a:latin typeface="Aptos"/>
              </a:rPr>
              <a:t>Microsoft 365 Copilot Across the HR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743200"/>
            <a:ext cx="98755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0">
                <a:solidFill>
                  <a:srgbClr val="586576"/>
                </a:solidFill>
                <a:latin typeface="Aptos"/>
              </a:rPr>
              <a:t>Generate and analyse with a human in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4160520"/>
            <a:ext cx="24231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586576"/>
                </a:solidFill>
                <a:latin typeface="Aptos"/>
              </a:rPr>
              <a:t>FRAME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5848" y="4160520"/>
            <a:ext cx="2423160" cy="658368"/>
          </a:xfrm>
          <a:prstGeom prst="round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4728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GENERATE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53328" y="4160520"/>
            <a:ext cx="24231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4476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586576"/>
                </a:solidFill>
                <a:latin typeface="Aptos"/>
              </a:rPr>
              <a:t>ORCHESTRATE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50808" y="4160520"/>
            <a:ext cx="24231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224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586576"/>
                </a:solidFill>
                <a:latin typeface="Aptos"/>
              </a:rPr>
              <a:t>GOVERN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715000"/>
            <a:ext cx="987552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Concepts → evidence → activity → reflection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 grounded prompt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Context plus task plus constraints plus evidence produces reviewable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Role and business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Specific task and desired 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Approved sources and boundaries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Output format and verification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Workforce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Copilot can turn fragmented evidence into an explainable workforce hypothesis.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Summarise demand signals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Identify capability gaps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Draft role and capacity options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Keep assumptions visible for challenge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Job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Better job descriptions start with outcomes and skills, not copied history.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240280"/>
            <a:ext cx="38862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2487168"/>
            <a:ext cx="3429000" cy="8229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C2340"/>
                </a:solidFill>
                <a:latin typeface="Aptos"/>
              </a:rPr>
              <a:t>Better job descriptions start with outcomes and skills, not copied history.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Translate business need into outcomes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Separate essential from trainable skills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Use inclusive, job-related language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8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Validate with hiring manager and 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Recruitment campaign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Copilot can adapt one approved proposition across channels without changing facts.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Candidate persona and value proposition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Channel-specific message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Consistent salary and requirements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Human approval before publication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Resume screening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AI should organise job-related evidence—not make an opaque hiring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Build a disclosed scoring rubric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Extract evidence, uncertainty and gaps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Blind protected attributes where feasible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A human reviews every shortlist 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Structured interviewing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 shared evidence model improves consistency more than clever questions alone.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Behavioural questions tied to outcomes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Anchored scoring guide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Independent notes before consensus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Candidate accessibility and fairness checks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Candidate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Copilot can make communication timely, consistent and humane.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240280"/>
            <a:ext cx="38862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2487168"/>
            <a:ext cx="3429000" cy="8229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C2340"/>
                </a:solidFill>
                <a:latin typeface="Aptos"/>
              </a:rPr>
              <a:t>Copilot can make communication timely, consistent and humane.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Personalise only from approved facts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Avoid inferred sensitive attributes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Give realistic next steps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8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Review tone, accuracy and confidentiality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Policy drafting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Copilot accelerates comparison and drafting; policy owners approve meaning.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Ground in current policy sources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Surface conflicts and missing definitions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Use plain-language examples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Preserve version, approver and effective 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 personalised journey connects role, people, policy, systems and learning.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Prepare a role-specific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Summarise must-know policies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Identify collaboration network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Track access, milestones and feedback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Personalisation across the employee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AI can tailor support when personalisation is grounded, explainable and correctable.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Onboarding adapts approved tasks to role and location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Learning recommendations connect evidenced gaps to approved resources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Internal mobility surfaces explainable options rather than deterministic rankings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Employee-service agents answer routine questions and escalate personal exceptions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Predictive talent analytics with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Forecasts should guide questions and planning, not make hidden decisions about people.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Anticipate staffing needs from demand and skills 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Identify organisational retention and capability patterns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Test data quality, proxies, drift and uncertainty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Keep high-potential, performance and wellbeing decisions human and contestable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Performance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Copilot can organise evidence and coaching preparation without replacing the conversation.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Summarise agreed goals and 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Separate observation from inference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Draft balanced coaching questions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Manager validates before discussion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Learning and internal mobility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Skills intelligence becomes useful when employees can challenge and update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Map role outcomes to skills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Recommend explainable learning options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Support career conversations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Avoid deterministic potential scores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Engagement and workforce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Patterns guide questions; they do not diagnose individuals.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Aggregate data to protect privacy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Triangulate survey, service and retention signals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Show uncertainty and limitations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Convert insight into a human-led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04 | Source fields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Read the supplied synthetic CSV before asking Copilot to reason over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789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mock-data.csv  •  6 records  •  6 fields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candidate 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8728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2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question 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91656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job outcome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44584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0888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evidence excerpt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panel score 1 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38728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85032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panel note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833872"/>
            <a:ext cx="1078992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A6A6"/>
                </a:solidFill>
                <a:latin typeface="Aptos"/>
              </a:rPr>
              <a:t>Source boundary  →  Synthetic records only; verify row IDs and field meaning before output.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04 | Evidence sample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Compare the output against real rows in the supplied lab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2121408" cy="54864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candidate id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39" y="1508760"/>
            <a:ext cx="2121408" cy="54864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4436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question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508760"/>
            <a:ext cx="2121408" cy="54864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3892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job outcome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59" y="1508760"/>
            <a:ext cx="2121408" cy="54864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348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evidence excerpt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19" y="1508760"/>
            <a:ext cx="2121408" cy="54864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8047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panel note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1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CAND-01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3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7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Q1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Translate data into action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5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19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Rebuilt a weekly hub report and documented sta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1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5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Verify scale and denominator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1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CAND-01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3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7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Q2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Improve scheduling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5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19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Used demand peaks to propose shift coverage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1831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5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Strong job-related example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1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CAND-02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3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2607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Q1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0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Translate data into action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5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19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Mapped delays and built a Power BI view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1831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5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Clarify personal contribution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650992"/>
            <a:ext cx="1078992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Evidence check  →  Point to the source row and column before accepting a summary or recommendation.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04 | Prompt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named fields, a bounded task and a verifiable output shape.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53312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99616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463040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Act as an HR analyst for the synthetic prepare and review structured interviews with ai case.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76856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386584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Use only mock-data.csv; cite candidate_id and question_id for each claim.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46704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310128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Use Copilot to prepare job-related structured questions, organise synthetic interview notes and support a human panel decision.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23944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70248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4233672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Return a table: source record | observation | uncertainty | recommendation | human check.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47488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93792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STOP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5157216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Write UNKNOWN when evidence is missing. Do not take a consequential HR action.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04 | Controlled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The agent or Copilot prepares evidence; an authorised person controls the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candidate 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090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79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39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ANALYSE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Word and Teams with Microsoft 365 Copilot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9262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239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Same core questions for every candidate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4344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19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APPROVE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1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HR process owner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2124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RECORD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583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Structured interview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47488"/>
            <a:ext cx="1051560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C2430"/>
                </a:solidFill>
                <a:latin typeface="Aptos"/>
              </a:rPr>
              <a:t>Audit trail: source ID → prompt/instructions → output → verification → approval → final 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04 | Verification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 claim passes only when the source, control and reviewer agree.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56362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Match candidate_id to the CSV 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156362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Row exists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7919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Meaning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66090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Interpret question_id using the scenario 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66090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No invented 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1188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7647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75818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Same core questions for every candidate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375818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Human check recorded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09159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73751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Boundary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485546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Panel members score independently before consensus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485546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Escalate exception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04 | Exception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Test normal and failure paths before a learner marks the solution ready.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0472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Normal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444752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CAND-01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44752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Grounded result with source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203704"/>
            <a:ext cx="10835640" cy="72237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68296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Missing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322576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panel_note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322576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Clarify or mark UNKNOWN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081528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46120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Unauthorised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200400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Cross-employee 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00400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Refuse and escalate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959352"/>
            <a:ext cx="10835640" cy="72237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23944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Failure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078224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Tool/connector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078224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No false success; retain audit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837176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001768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Duplicate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4956048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Same request twice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956048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One action or safe rejection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97880"/>
            <a:ext cx="106984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4363E"/>
                </a:solidFill>
                <a:latin typeface="Aptos"/>
              </a:rPr>
              <a:t>Pass only with recorded actual result, reviewer and evidence reference.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04 | Evidence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Submit a traceable artifact, not a polished output alone.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28216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Structured interview guide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42032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15768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Anchored panel scorecard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529584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703320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Candidate communication pack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246120" cy="333756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810512"/>
            <a:ext cx="265176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RELEASE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340864"/>
            <a:ext cx="2651760" cy="22677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Aptos"/>
              </a:rPr>
              <a:t>Source linked
Uncertainty stated
Human owner named
Failure case tested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15000"/>
            <a:ext cx="1060704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A6A6"/>
                </a:solidFill>
                <a:latin typeface="Aptos"/>
              </a:rPr>
              <a:t>Save in Lab-04-Evidence-Workbook.xlsx  •  include prompt, output, checks and revision.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C2340"/>
                </a:solidFill>
                <a:latin typeface="Aptos"/>
              </a:rPr>
              <a:t>Lab 4: Prepare and Review Structured Interviews with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Copilot to prepare job-related structured questions, organise synthetic interview notes and support a human panel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62940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64208"/>
            <a:ext cx="1280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6080760" cy="9601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The recruiter shortlisted three candidates in Lab 3. Managers currently improvise interview questions, take incomplete notes and struggle to compare evidence consistently.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17320"/>
            <a:ext cx="4023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1664208"/>
            <a:ext cx="13716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2029968"/>
            <a:ext cx="3429000" cy="10058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• Word and Teams with Microsoft 365 Copilot
• Excel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Structured interview guide
• Anchored panel scorecard
• Candidate communication pack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Same core questions for every candidate
• No emotion or personality inference
• Panel members score independently before consensus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07024"/>
            <a:ext cx="107899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86576"/>
                </a:solidFill>
                <a:latin typeface="Aptos"/>
              </a:rPr>
              <a:t>Detailed procedure, prompts and evidence checklist: Learner Guide + lab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4 success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Show your reasoning—not only a polished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Use the supplied synthetic case and approved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State assumptions, criteria and the human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5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Save prompts, output, checks, revisions and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Pass the acceptance criteria and answer reflection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7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4363E"/>
                </a:solidFill>
                <a:latin typeface="Aptos"/>
              </a:rPr>
              <a:t>Stop if the agent or Copilot output cannot be traced, corrected or safely escalated.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05 | Source fields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Read the supplied synthetic CSV before asking Copilot to reason over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789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mock-data.csv  •  8 records  •  7 fields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task 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8728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2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journey stage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91656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task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44584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0888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due offset days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38728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85032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system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91656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33872"/>
            <a:ext cx="1078992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A6A6"/>
                </a:solidFill>
                <a:latin typeface="Aptos"/>
              </a:rPr>
              <a:t>Source boundary  →  Synthetic records only; verify row IDs and field meaning before output.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05 | Evidence sample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Compare the output against real rows in the supplied lab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2121408" cy="54864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task id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39" y="1508760"/>
            <a:ext cx="2121408" cy="54864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4436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journey stage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508760"/>
            <a:ext cx="2121408" cy="54864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3892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task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59" y="1508760"/>
            <a:ext cx="2121408" cy="54864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348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owner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19" y="1508760"/>
            <a:ext cx="2121408" cy="54864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8047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1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ONB-01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3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7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Pre-boarding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Confirm personal details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5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19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HR Operations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1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5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Not started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1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ONB-02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3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7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Pre-boarding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Order laptop and access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5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19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IT Service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1831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5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Not started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1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ONB-03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3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2607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Day 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0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Safety orientation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5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19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Safety Lead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1831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5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Not started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650992"/>
            <a:ext cx="1078992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Evidence check  →  Point to the source row and column before accepting a summary or recommendation.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05 | Prompt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named fields, a bounded task and a verifiable output shape.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53312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99616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463040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Act as an HR analyst for the synthetic automate onboarding coordination case.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76856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386584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Use only mock-data.csv; cite task_id and journey_stage for each claim.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46704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310128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Design a Copilot Studio onboarding agent that coordinates routine work while retaining accountable task owners and human confirmation.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23944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70248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4233672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Return a table: source record | observation | uncertainty | recommendation | human check.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47488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93792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STOP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5157216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Write UNKNOWN when evidence is missing. Do not take a consequential HR action.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05 | Controlled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The agent or Copilot prepares evidence; an authorised person controls the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task 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090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79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39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ANALYSE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Microsoft Copilot Studio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9262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239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Use approved role and policy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4344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19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APPROVE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1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HR process owner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2124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RECORD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583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30-day journey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47488"/>
            <a:ext cx="1051560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C2430"/>
                </a:solidFill>
                <a:latin typeface="Aptos"/>
              </a:rPr>
              <a:t>Audit trail: source ID → prompt/instructions → output → verification → approval → final 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05 | Verification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 claim passes only when the source, control and reviewer agree.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56362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Match task_id to the CSV 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156362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Row exists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7919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Meaning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66090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Interpret journey_stage using the scenario 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66090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No invented 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1188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7647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75818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Use approved role and policy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375818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Human check recorded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09159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73751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Boundary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485546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A human owner confirms every completion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485546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Escalate exception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05 | Exception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Test normal and failure paths before a learner marks the solution ready.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0472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Normal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444752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ONB-01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44752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Grounded result with source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203704"/>
            <a:ext cx="10835640" cy="72237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68296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Missing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322576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322576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Clarify or mark UNKNOWN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081528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46120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Unauthorised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200400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Cross-employee 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00400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Refuse and escalate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959352"/>
            <a:ext cx="10835640" cy="72237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23944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Failure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078224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Tool/connector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078224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No false success; retain audit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837176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001768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Duplicate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4956048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Same request twice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956048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One action or safe rejection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97880"/>
            <a:ext cx="106984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4363E"/>
                </a:solidFill>
                <a:latin typeface="Aptos"/>
              </a:rPr>
              <a:t>Pass only with recorded actual result, reviewer and evidence reference.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05 | Evidence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Submit a traceable artifact, not a polished output alone.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28216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30-day journey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42032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15768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Agent conversation and tool map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529584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703320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Onboarding test report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246120" cy="333756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810512"/>
            <a:ext cx="265176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RELEASE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340864"/>
            <a:ext cx="2651760" cy="22677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Aptos"/>
              </a:rPr>
              <a:t>Source linked
Uncertainty stated
Human owner named
Failure case tested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15000"/>
            <a:ext cx="1060704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A6A6"/>
                </a:solidFill>
                <a:latin typeface="Aptos"/>
              </a:rPr>
              <a:t>Save in Lab-05-Evidence-Workbook.xlsx  •  include prompt, output, checks and revision.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5: Automate Onboarding Coordination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Design a Copilot Studio onboarding agent that coordinates routine work while retaining accountable task owners and human confirmation.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62940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64208"/>
            <a:ext cx="1280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6080760" cy="9601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A selected synthetic candidate joins HarbourLight as the Workforce Operations Analyst. Equipment, access, safety training and manager check-ins are currently coordinated through emails and spreadsheets, causing missed tasks and repeated follow-up.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17320"/>
            <a:ext cx="4023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1664208"/>
            <a:ext cx="13716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2029968"/>
            <a:ext cx="3429000" cy="10058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• Microsoft Copilot Studio
• Teams
• SharePoint
• Power Automate or agent flows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30-day journey
• Agent conversation and tool map
• Onboarding test report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Use approved role and policy data
• Least-privilege connectors
• A human owner confirms every completion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07024"/>
            <a:ext cx="107899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86576"/>
                </a:solidFill>
                <a:latin typeface="Aptos"/>
              </a:rPr>
              <a:t>Detailed procedure, prompts and evidence checklist: Learner Guide + lab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5 success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Show your reasoning—not only a polished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Use the supplied synthetic case and approved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State assumptions, criteria and the human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5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Save prompts, output, checks, revisions and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Pass the acceptance criteria and answer reflection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7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4363E"/>
                </a:solidFill>
                <a:latin typeface="Aptos"/>
              </a:rPr>
              <a:t>Stop if the agent or Copilot output cannot be traced, corrected or safely escalated.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06 | Source fields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Read the supplied synthetic CSV before asking Copilot to reason over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789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mock-data.csv  •  6 records  •  7 fields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employee 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8728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2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role outcome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91656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evidence level 1 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44584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0888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employee interest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approved learning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38728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85032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manager support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91656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consent 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33872"/>
            <a:ext cx="1078992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A6A6"/>
                </a:solidFill>
                <a:latin typeface="Aptos"/>
              </a:rPr>
              <a:t>Source boundary  →  Synthetic records only; verify row IDs and field meaning before output.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06 | Evidence sample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Compare the output against real rows in the supplied lab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2121408" cy="54864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employee id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39" y="1508760"/>
            <a:ext cx="2121408" cy="54864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4436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role outcome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508760"/>
            <a:ext cx="2121408" cy="54864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3892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evidence level 1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59" y="1508760"/>
            <a:ext cx="2121408" cy="54864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348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employee interest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19" y="1508760"/>
            <a:ext cx="2121408" cy="54864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8047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consent 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1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EMP-101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3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7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Demand analysis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5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19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Advanced forecasting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1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5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Confirmed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1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EMP-101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3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7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Stakeholder communication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5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19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Facilitation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1831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5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Confirmed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1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EMP-204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3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2607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Dashboard quality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0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5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19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Power BI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1831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5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Confirmed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650992"/>
            <a:ext cx="1078992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Evidence check  →  Point to the source row and column before accepting a summary or recommendation.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06 | Prompt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named fields, a bounded task and a verifiable output shape.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53312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99616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463040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Act as an HR analyst for the synthetic create a personalised talent development journey case.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76856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386584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Use only mock-data.csv; cite employee_id and role_outcome for each claim.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46704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310128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Use Copilot and a bounded development agent to identify evidence-based skill gaps, prepare learning options and automate routine follow-up.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23944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70248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4233672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Return a table: source record | observation | uncertainty | recommendation | human check.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47488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93792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STOP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5157216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Write UNKNOWN when evidence is missing. Do not take a consequential HR action.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06 | Controlled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The agent or Copilot prepares evidence; an authorised person controls the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employee 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090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79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39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ANALYSE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Microsoft 365 Copilot in Word and Teams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9262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239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Employee can correct the skills record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4344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19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APPROVE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1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HR process owner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2124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RECORD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583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Skills evidence 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47488"/>
            <a:ext cx="1051560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C2430"/>
                </a:solidFill>
                <a:latin typeface="Aptos"/>
              </a:rPr>
              <a:t>Audit trail: source ID → prompt/instructions → output → verification → approval → final 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06 | Verification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 claim passes only when the source, control and reviewer agree.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56362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Match employee_id to the CSV 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156362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Row exists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7919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Meaning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66090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Interpret role_outcome using the scenario 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66090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No invented 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1188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7647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75818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Employee can correct the skills record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375818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Human check recorded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09159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73751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Boundary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485546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Manager and employee choose the final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485546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Escalate exception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06 | Exception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Test normal and failure paths before a learner marks the solution ready.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0472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Normal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444752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EMP-101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44752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Grounded result with source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203704"/>
            <a:ext cx="10835640" cy="72237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68296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Missing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322576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consent_status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322576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Clarify or mark UNKNOWN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081528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46120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Unauthorised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200400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Cross-employee 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00400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Refuse and escalate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959352"/>
            <a:ext cx="10835640" cy="72237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23944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Failure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078224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Tool/connector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078224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No false success; retain audit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837176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001768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Duplicate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4956048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Same request twice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956048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One action or safe rejection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97880"/>
            <a:ext cx="106984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4363E"/>
                </a:solidFill>
                <a:latin typeface="Aptos"/>
              </a:rPr>
              <a:t>Pass only with recorded actual result, reviewer and evidence reference.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06 | Evidence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Submit a traceable artifact, not a polished output alone.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28216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Skills evidence summary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42032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15768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90-day development plan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529584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703320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Development-agent instructions and tests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246120" cy="333756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810512"/>
            <a:ext cx="265176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RELEASE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340864"/>
            <a:ext cx="2651760" cy="22677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Aptos"/>
              </a:rPr>
              <a:t>Source linked
Uncertainty stated
Human owner named
Failure case tested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15000"/>
            <a:ext cx="1060704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A6A6"/>
                </a:solidFill>
                <a:latin typeface="Aptos"/>
              </a:rPr>
              <a:t>Save in Lab-06-Evidence-Workbook.xlsx  •  include prompt, output, checks and revision.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C2340"/>
                </a:solidFill>
                <a:latin typeface="Aptos"/>
              </a:rPr>
              <a:t>Lab 6: Create a Personalised Talent Development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Copilot and a bounded development agent to identify evidence-based skill gaps, prepare learning options and automate routine follow-up.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62940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64208"/>
            <a:ext cx="1280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6080760" cy="9601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After onboarding, the new analyst and two existing employees need different development pathways. HR currently assembles courses manually and managers lack a consistent skills-conversation structure.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17320"/>
            <a:ext cx="4023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1664208"/>
            <a:ext cx="13716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2029968"/>
            <a:ext cx="3429000" cy="10058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• Microsoft 365 Copilot in Word and Teams
• Agent Builder in Microsoft 365 Copilot
• Excel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Skills evidence summary
• 90-day development plan
• Development-agent instructions and tests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Employee can correct the skills record
• No deterministic potential ranking
• Manager and employee choose the final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07024"/>
            <a:ext cx="107899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86576"/>
                </a:solidFill>
                <a:latin typeface="Aptos"/>
              </a:rPr>
              <a:t>Detailed procedure, prompts and evidence checklist: Learner Guide + lab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6 success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Show your reasoning—not only a polished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Use the supplied synthetic case and approved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State assumptions, criteria and the human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5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Save prompts, output, checks, revisions and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Pass the acceptance criteria and answer reflection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7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4363E"/>
                </a:solidFill>
                <a:latin typeface="Aptos"/>
              </a:rPr>
              <a:t>Stop if the agent or Copilot output cannot be traced, corrected or safely escalated.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Unit 2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Connect concept, evidence and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A6A6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2821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Key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350008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Generate and analyse with a human in control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508760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A6A6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72821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350008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What would make the recommendation reviewable?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26179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82211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A6A6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945635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Human 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567427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Who remains accountable?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3726179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982211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A6A6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945635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Next move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567427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What will you test or change?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58368"/>
            <a:ext cx="182880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LEARNING UNIT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515600" cy="10972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3800" b="1">
                <a:solidFill>
                  <a:srgbClr val="0C2340"/>
                </a:solidFill>
                <a:latin typeface="Aptos"/>
              </a:rPr>
              <a:t>Build Governed HR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743200"/>
            <a:ext cx="98755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0">
                <a:solidFill>
                  <a:srgbClr val="586576"/>
                </a:solidFill>
                <a:latin typeface="Aptos"/>
              </a:rPr>
              <a:t>Agent Builder for knowledge; Copilot Studio for orchestration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4160520"/>
            <a:ext cx="24231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586576"/>
                </a:solidFill>
                <a:latin typeface="Aptos"/>
              </a:rPr>
              <a:t>FRAME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5848" y="4160520"/>
            <a:ext cx="24231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4728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586576"/>
                </a:solidFill>
                <a:latin typeface="Aptos"/>
              </a:rPr>
              <a:t>GENERATE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53328" y="4160520"/>
            <a:ext cx="2423160" cy="658368"/>
          </a:xfrm>
          <a:prstGeom prst="roundRect">
            <a:avLst/>
          </a:prstGeom>
          <a:solidFill>
            <a:srgbClr val="238C5C"/>
          </a:solidFill>
          <a:ln>
            <a:solidFill>
              <a:srgbClr val="23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4476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ORCHESTRATE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50808" y="4160520"/>
            <a:ext cx="24231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224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586576"/>
                </a:solidFill>
                <a:latin typeface="Aptos"/>
              </a:rPr>
              <a:t>GOVERN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715000"/>
            <a:ext cx="987552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Concepts → evidence → activity → reflection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Choose the build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Agent Builder is fast for team knowledge; Copilot Studio supports broader orchestration.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Agent Builder: focused Q&amp;A and team productivity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Copilot Studio: tools, flows, channels and lifecycle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Copy an agent to extend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Licensing and governance remain design constraints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Agent Builder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 useful team agent has a narrow purpose and authoritative knowledge.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Name the audience and task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Ground in selected SharePoint sources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Add response and refusal instructions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Share only with intended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Copilot Studio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An enterprise agent separates conversation, reasoning and transaction.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240280"/>
            <a:ext cx="38862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23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2487168"/>
            <a:ext cx="3429000" cy="8229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C2340"/>
                </a:solidFill>
                <a:latin typeface="Aptos"/>
              </a:rPr>
              <a:t>An enterprise agent separates conversation, reasoning and transaction.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Topic or generative orchestration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Approved knowledge sources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Actions and connectors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8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Authentication, analytics and ALM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Integrate with the HR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Agents become useful when identity, HRIS data, workflows and monitoring are deliberately connected.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HRIS and policy repositories remain authoritative systems of record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Identity and permissions restrict personal data and transactions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Connectors and APIs expose only bounded, validated actions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Logging, fallback and human support make failures recoverable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Knowledge grounding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The answer should be traceable to the current approved source.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Curate source ownership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Remove obsolete duplicates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Respect permissions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Return citation, effective date and escalation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Instructions and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Agent instructions are an operating policy, not marketing copy.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Define in-scope intents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State prohibited decisions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Specify clarification and escalation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Require confirmation before consequential 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Tools and agent 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Tools convert a conversation into work; flows make critical actions deterministic.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240280"/>
            <a:ext cx="38862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23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2487168"/>
            <a:ext cx="3429000" cy="8229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C2340"/>
                </a:solidFill>
                <a:latin typeface="Aptos"/>
              </a:rPr>
              <a:t>Tools convert a conversation into work; flows make critical actions deterministic.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Use least-privilege connectors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Validate inputs before 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Add human approval for consequential steps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8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Write outcome and error to an audit 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HR policy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 policy agent should answer, cite, qualify and escalate.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38C5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Recognise the employee intent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38C5C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Retrieve the exact current clause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38C5C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Explain in plain language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38C5C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Escalate ambiguity or personal exceptions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Onboarding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An onboarding agent coordinates milestones without inventing employment commitments.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Personalise from approved role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Trigger task owners and reminders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Track exceptions and access blockers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Route sensitive questions to HR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Leave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The agent gathers intent; a governed workflow validates and records the request.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Check balance and policy eligibility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Confirm dates and coverage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Route manager approval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Update system and notify with audit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Benefits, payroll and case 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Self-service is valuable when the agent knows when not to answer.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240280"/>
            <a:ext cx="38862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23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2487168"/>
            <a:ext cx="3429000" cy="8229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C2340"/>
                </a:solidFill>
                <a:latin typeface="Aptos"/>
              </a:rPr>
              <a:t>Self-service is valuable when the agent knows when not to answer.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Handle common policy questions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Retrieve authorised personal 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Never expose another employee's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8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Escalate disputed or sensitive cases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Offboarding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Offboarding requires coordination, access control and respectful communication.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38C5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Confirm final date and obligations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38C5C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Trigger asset and access tasks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38C5C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Capture knowledge-transfer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38C5C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Close only after owner confirmations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Agent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Test conversations, actions, permissions and recovery—not only happy-path answers.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Normal and ambiguous intents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Prompt injection and data exfiltration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Connector failures and duplicate 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Escalation, rollback and audit completeness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07 | Source fields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Read the supplied synthetic CSV before asking Copilot to reason over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789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mock-data.csv  •  6 records  •  6 fields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source 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8728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2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policy topic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91656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rule 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44584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0888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effective date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owner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38728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85032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issue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833872"/>
            <a:ext cx="1078992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38C5C"/>
                </a:solidFill>
                <a:latin typeface="Aptos"/>
              </a:rPr>
              <a:t>Source boundary  →  Synthetic records only; verify row IDs and field meaning before output.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07 | Evidence sample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Compare the output against real rows in the supplied lab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2121408" cy="548640"/>
          </a:xfrm>
          <a:prstGeom prst="rect">
            <a:avLst/>
          </a:prstGeom>
          <a:solidFill>
            <a:srgbClr val="238C5C"/>
          </a:solidFill>
          <a:ln>
            <a:solidFill>
              <a:srgbClr val="23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source id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39" y="1508760"/>
            <a:ext cx="2121408" cy="548640"/>
          </a:xfrm>
          <a:prstGeom prst="rect">
            <a:avLst/>
          </a:prstGeom>
          <a:solidFill>
            <a:srgbClr val="238C5C"/>
          </a:solidFill>
          <a:ln>
            <a:solidFill>
              <a:srgbClr val="23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4436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policy topic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508760"/>
            <a:ext cx="2121408" cy="548640"/>
          </a:xfrm>
          <a:prstGeom prst="rect">
            <a:avLst/>
          </a:prstGeom>
          <a:solidFill>
            <a:srgbClr val="238C5C"/>
          </a:solidFill>
          <a:ln>
            <a:solidFill>
              <a:srgbClr val="23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3892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rule text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59" y="1508760"/>
            <a:ext cx="2121408" cy="548640"/>
          </a:xfrm>
          <a:prstGeom prst="rect">
            <a:avLst/>
          </a:prstGeom>
          <a:solidFill>
            <a:srgbClr val="238C5C"/>
          </a:solidFill>
          <a:ln>
            <a:solidFill>
              <a:srgbClr val="23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348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effective date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19" y="1508760"/>
            <a:ext cx="2121408" cy="548640"/>
          </a:xfrm>
          <a:prstGeom prst="rect">
            <a:avLst/>
          </a:prstGeom>
          <a:solidFill>
            <a:srgbClr val="238C5C"/>
          </a:solidFill>
          <a:ln>
            <a:solidFill>
              <a:srgbClr val="23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8047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issue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1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POL-2025-01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3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7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Hybrid 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Up to two remote days with manager agreement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5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19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2025-01-01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1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5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Current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1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GUIDE-OLD-04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3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7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Hybrid work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One remote day after probation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5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19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2024-04-01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1831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5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Superseded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1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FAQ-17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3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2607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Equipment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0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Employees may take assigned laptop home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5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19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2025-06-01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1831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5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Current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650992"/>
            <a:ext cx="1078992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Evidence check  →  Point to the source row and column before accepting a summary or recommendation.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07 | Prompt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named fields, a bounded task and a verifiable output shape.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53312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99616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463040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Act as an HR analyst for the synthetic draft and operate an hr policy agent case.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76856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386584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Use only mock-data.csv; cite source_id and policy_topic for each claim.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46704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310128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Use Word Copilot to reconcile a controlled policy draft, then build an Agent Builder policy Q&amp;A agent that cites the approved version.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23944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70248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4233672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Return a table: source record | observation | uncertainty | recommendation | human check.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47488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93792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STOP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5157216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Write UNKNOWN when evidence is missing. Do not take a consequential HR action.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07 | Controlled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The agent or Copilot prepares evidence; an authorised person controls the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source 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090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79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39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ANALYSE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Word with Microsoft 365 Copilot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9262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239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Policy owner approves meaning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4344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19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APPROVE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1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HR process owner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2124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RECORD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583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Conflict register and policy draft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47488"/>
            <a:ext cx="1051560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C2430"/>
                </a:solidFill>
                <a:latin typeface="Aptos"/>
              </a:rPr>
              <a:t>Audit trail: source ID → prompt/instructions → output → verification → approval → final 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07 | Verification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 claim passes only when the source, control and reviewer agree.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56362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Match source_id to the CSV 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156362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Row exists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7919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Meaning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66090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Interpret policy_topic using the scenario 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66090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No invented 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1188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7647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75818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Policy owner approves meaning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375818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Human check recorded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09159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73751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Boundary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485546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Ambiguous and sensitive cases escalate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485546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Escalate exception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07 | Exception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Test normal and failure paths before a learner marks the solution ready.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0472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Normal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444752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POL-2025-01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44752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Grounded result with source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203704"/>
            <a:ext cx="10835640" cy="72237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68296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Missing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322576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issue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322576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Clarify or mark UNKNOWN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081528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46120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Unauthorised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200400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Cross-employee 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00400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Refuse and escalate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959352"/>
            <a:ext cx="10835640" cy="72237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23944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Failure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078224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Tool/connector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078224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No false success; retain audit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837176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001768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Duplicate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4956048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Same request twice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956048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One action or safe rejection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97880"/>
            <a:ext cx="106984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4363E"/>
                </a:solidFill>
                <a:latin typeface="Aptos"/>
              </a:rPr>
              <a:t>Pass only with recorded actual result, reviewer and evidence reference.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07 | Evidence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Submit a traceable artifact, not a polished output alone.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28216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Conflict register and policy draft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42032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15768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Agent instructions and knowledge map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529584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703320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8-case test report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246120" cy="333756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810512"/>
            <a:ext cx="265176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RELEASE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340864"/>
            <a:ext cx="2651760" cy="22677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Aptos"/>
              </a:rPr>
              <a:t>Source linked
Uncertainty stated
Human owner named
Failure case tested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15000"/>
            <a:ext cx="1060704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38C5C"/>
                </a:solidFill>
                <a:latin typeface="Aptos"/>
              </a:rPr>
              <a:t>Save in Lab-07-Evidence-Workbook.xlsx  •  include prompt, output, checks and revision.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7: Draft and Operate an HR Policy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Word Copilot to reconcile a controlled policy draft, then build an Agent Builder policy Q&amp;A agent that cites the approved version.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62940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64208"/>
            <a:ext cx="1280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6080760" cy="9601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Hybrid-work and conduct guidance exists in conflicting files. HR repeatedly answers the same questions and managers sometimes apply outdated rules.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17320"/>
            <a:ext cx="4023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1664208"/>
            <a:ext cx="13716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2029968"/>
            <a:ext cx="3429000" cy="10058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• Word with Microsoft 365 Copilot
• Agent Builder in Microsoft 365 Copilot
• SharePoint
• Teams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Conflict register and policy draft
• Agent instructions and knowledge map
• 8-case test report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Policy owner approves meaning
• Answers cite effective policy
• Ambiguous and sensitive cases escalate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07024"/>
            <a:ext cx="107899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86576"/>
                </a:solidFill>
                <a:latin typeface="Aptos"/>
              </a:rPr>
              <a:t>Detailed procedure, prompts and evidence checklist: Learner Guide + lab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7 success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Show your reasoning—not only a polished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Use the supplied synthetic case and approved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State assumptions, criteria and the human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5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Save prompts, output, checks, revisions and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Pass the acceptance criteria and answer reflection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7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4363E"/>
                </a:solidFill>
                <a:latin typeface="Aptos"/>
              </a:rPr>
              <a:t>Stop if the agent or Copilot output cannot be traced, corrected or safely escalated.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08 | Source fields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Read the supplied synthetic CSV before asking Copilot to reason over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789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mock-data.csv  •  5 records  •  9 fields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request 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8728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2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employee 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91656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leave type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44584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0888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start date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end date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38728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85032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balance days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91656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overlap flag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44584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90888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approver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776472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" y="3904487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request 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33872"/>
            <a:ext cx="1078992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38C5C"/>
                </a:solidFill>
                <a:latin typeface="Aptos"/>
              </a:rPr>
              <a:t>Source boundary  →  Synthetic records only; verify row IDs and field meaning before output.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08 | Evidence sample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Compare the output against real rows in the supplied lab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2121408" cy="548640"/>
          </a:xfrm>
          <a:prstGeom prst="rect">
            <a:avLst/>
          </a:prstGeom>
          <a:solidFill>
            <a:srgbClr val="238C5C"/>
          </a:solidFill>
          <a:ln>
            <a:solidFill>
              <a:srgbClr val="23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request id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39" y="1508760"/>
            <a:ext cx="2121408" cy="548640"/>
          </a:xfrm>
          <a:prstGeom prst="rect">
            <a:avLst/>
          </a:prstGeom>
          <a:solidFill>
            <a:srgbClr val="238C5C"/>
          </a:solidFill>
          <a:ln>
            <a:solidFill>
              <a:srgbClr val="23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4436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employee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508760"/>
            <a:ext cx="2121408" cy="548640"/>
          </a:xfrm>
          <a:prstGeom prst="rect">
            <a:avLst/>
          </a:prstGeom>
          <a:solidFill>
            <a:srgbClr val="238C5C"/>
          </a:solidFill>
          <a:ln>
            <a:solidFill>
              <a:srgbClr val="23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3892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leave type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59" y="1508760"/>
            <a:ext cx="2121408" cy="548640"/>
          </a:xfrm>
          <a:prstGeom prst="rect">
            <a:avLst/>
          </a:prstGeom>
          <a:solidFill>
            <a:srgbClr val="238C5C"/>
          </a:solidFill>
          <a:ln>
            <a:solidFill>
              <a:srgbClr val="23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348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start date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19" y="1508760"/>
            <a:ext cx="2121408" cy="548640"/>
          </a:xfrm>
          <a:prstGeom prst="rect">
            <a:avLst/>
          </a:prstGeom>
          <a:solidFill>
            <a:srgbClr val="238C5C"/>
          </a:solidFill>
          <a:ln>
            <a:solidFill>
              <a:srgbClr val="23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8047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request 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1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LV-001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3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7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EMP-101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Annual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5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19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2026-09-14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1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5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Draft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1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LV-002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3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7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EMP-204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Annual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5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19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2026-09-15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1831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5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Draft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1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LV-003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3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2607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EMP-318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0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Medical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5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19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2026-09-10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1831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5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Draft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650992"/>
            <a:ext cx="1078992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Evidence check  →  Point to the source row and column before accepting a summary or recommendation.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131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08 | Prompt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named fields, a bounded task and a verifiable output shape.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53312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99616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463040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Act as an HR analyst for the synthetic automate leave application and approval case.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76856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386584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Use only mock-data.csv; cite request_id and employee_id for each claim.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46704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310128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Build a Copilot Studio leave agent plus deterministic approval flow for validation, confirmation, update and notification.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23944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70248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4233672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Return a table: source record | observation | uncertainty | recommendation | human check.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47488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93792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STOP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5157216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Write UNKNOWN when evidence is missing. Do not take a consequential HR action.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132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08 | Controlled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The agent or Copilot prepares evidence; an authorised person controls the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request 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090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79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39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ANALYSE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Microsoft Copilot Studio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9262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239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Employee confirms before submission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4344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19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APPROVE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1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HR process owner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2124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RECORD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583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Agent instructions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47488"/>
            <a:ext cx="1051560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C2430"/>
                </a:solidFill>
                <a:latin typeface="Aptos"/>
              </a:rPr>
              <a:t>Audit trail: source ID → prompt/instructions → output → verification → approval → final 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133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08 | Verification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 claim passes only when the source, control and reviewer agree.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56362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Match request_id to the CSV 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156362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Row exists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7919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Meaning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66090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Interpret employee_id using the scenario 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66090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No invented 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1188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7647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75818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Employee confirms before submission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375818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Human check recorded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09159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73751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Boundary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485546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Idempotency prevents duplicate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485546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Escalate exception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134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08 | Exception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Test normal and failure paths before a learner marks the solution ready.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0472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Normal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444752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LV-001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44752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Grounded result with source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203704"/>
            <a:ext cx="10835640" cy="72237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68296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Missing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322576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request_status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322576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Clarify or mark UNKNOWN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081528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46120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Unauthorised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200400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Cross-employee 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00400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Refuse and escalate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959352"/>
            <a:ext cx="10835640" cy="72237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23944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Failure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078224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Tool/connector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078224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No false success; retain audit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837176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001768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Duplicate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4956048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Same request twice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956048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One action or safe rejection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97880"/>
            <a:ext cx="106984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4363E"/>
                </a:solidFill>
                <a:latin typeface="Aptos"/>
              </a:rPr>
              <a:t>Pass only with recorded actual result, reviewer and evidence reference.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135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08 | Evidence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Submit a traceable artifact, not a polished output alone.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28216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Agent instructions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42032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15768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Leave approval 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529584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703320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Audit log and exception test report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246120" cy="333756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810512"/>
            <a:ext cx="265176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RELEASE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340864"/>
            <a:ext cx="2651760" cy="22677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Aptos"/>
              </a:rPr>
              <a:t>Source linked
Uncertainty stated
Human owner named
Failure case tested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15000"/>
            <a:ext cx="1060704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38C5C"/>
                </a:solidFill>
                <a:latin typeface="Aptos"/>
              </a:rPr>
              <a:t>Save in Lab-08-Evidence-Workbook.xlsx  •  include prompt, output, checks and revision.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136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8: Automate Leave Application and Approval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Build a Copilot Studio leave agent plus deterministic approval flow for validation, confirmation, update and notification.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62940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64208"/>
            <a:ext cx="1280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6080760" cy="9601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Employees message leave dates to HR, which rekeys requests into a tracker and follows up with managers. Balance errors, overlaps and duplicate submissions create avoidable administration.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17320"/>
            <a:ext cx="4023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1664208"/>
            <a:ext cx="13716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2029968"/>
            <a:ext cx="3429000" cy="10058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• Microsoft Copilot Studio
• Agent flows or Power Automate
• Teams
• Excel or HRIS sandbox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Agent instructions
• Leave approval flow
• Audit log and exception test report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Employee confirms before submission
• Manager owns exceptions
• Idempotency prevents duplicate 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07024"/>
            <a:ext cx="107899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86576"/>
                </a:solidFill>
                <a:latin typeface="Aptos"/>
              </a:rPr>
              <a:t>Detailed procedure, prompts and evidence checklist: Learner Guide + lab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137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8 success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Show your reasoning—not only a polished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Use the supplied synthetic case and approved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State assumptions, criteria and the human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5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Save prompts, output, checks, revisions and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Pass the acceptance criteria and answer reflection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7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4363E"/>
                </a:solidFill>
                <a:latin typeface="Aptos"/>
              </a:rPr>
              <a:t>Stop if the agent or Copilot output cannot be traced, corrected or safely escalated.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138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09 | Source fields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Read the supplied synthetic CSV before asking Copilot to reason over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789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mock-data.csv  •  6 records  •  7 fields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intent 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8728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2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employee intent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91656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data class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44584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0888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authentication required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approved source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38728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85032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expected route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91656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risk note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33872"/>
            <a:ext cx="1078992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38C5C"/>
                </a:solidFill>
                <a:latin typeface="Aptos"/>
              </a:rPr>
              <a:t>Source boundary  →  Synthetic records only; verify row IDs and field meaning before output.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139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09 | Evidence sample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Compare the output against real rows in the supplied lab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2121408" cy="548640"/>
          </a:xfrm>
          <a:prstGeom prst="rect">
            <a:avLst/>
          </a:prstGeom>
          <a:solidFill>
            <a:srgbClr val="238C5C"/>
          </a:solidFill>
          <a:ln>
            <a:solidFill>
              <a:srgbClr val="23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intent id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39" y="1508760"/>
            <a:ext cx="2121408" cy="548640"/>
          </a:xfrm>
          <a:prstGeom prst="rect">
            <a:avLst/>
          </a:prstGeom>
          <a:solidFill>
            <a:srgbClr val="238C5C"/>
          </a:solidFill>
          <a:ln>
            <a:solidFill>
              <a:srgbClr val="23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4436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employee intent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508760"/>
            <a:ext cx="2121408" cy="548640"/>
          </a:xfrm>
          <a:prstGeom prst="rect">
            <a:avLst/>
          </a:prstGeom>
          <a:solidFill>
            <a:srgbClr val="238C5C"/>
          </a:solidFill>
          <a:ln>
            <a:solidFill>
              <a:srgbClr val="23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3892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data class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59" y="1508760"/>
            <a:ext cx="2121408" cy="548640"/>
          </a:xfrm>
          <a:prstGeom prst="rect">
            <a:avLst/>
          </a:prstGeom>
          <a:solidFill>
            <a:srgbClr val="238C5C"/>
          </a:solidFill>
          <a:ln>
            <a:solidFill>
              <a:srgbClr val="23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348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authentication required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19" y="1508760"/>
            <a:ext cx="2121408" cy="548640"/>
          </a:xfrm>
          <a:prstGeom prst="rect">
            <a:avLst/>
          </a:prstGeom>
          <a:solidFill>
            <a:srgbClr val="238C5C"/>
          </a:solidFill>
          <a:ln>
            <a:solidFill>
              <a:srgbClr val="23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8047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risk note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1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BEN-01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3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7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What outpatient coverage is included?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General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5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19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No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1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5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Check effective date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1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BEN-02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3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7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Am I enrolled in dental coverage?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Personal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5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19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Yes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1831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5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Least privilege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1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BEN-03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3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2607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Why was my claim rejected?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0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Sensitive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5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19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Yes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1831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5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No final entitlement advice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650992"/>
            <a:ext cx="1078992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Evidence check  →  Point to the source row and column before accepting a summary or recommendation.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140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09 | Prompt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named fields, a bounded task and a verifiable output shape.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53312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99616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463040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Act as an HR analyst for the synthetic build a benefits self-service agent case.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76856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386584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Use only mock-data.csv; cite intent_id and employee_intent for each claim.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46704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310128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Design a benefits agent that answers grounded general questions, retrieves authorised status and escalates consequential or sensitive cases.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23944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70248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4233672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Return a table: source record | observation | uncertainty | recommendation | human check.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47488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93792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STOP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5157216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Write UNKNOWN when evidence is missing. Do not take a consequential HR action.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141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09 | Controlled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The agent or Copilot prepares evidence; an authorised person controls the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intent 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090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79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39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ANALYSE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Microsoft Copilot Studio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9262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239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General answers cite approved plan documents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4344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19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APPROVE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1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HR process owner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2124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RECORD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583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Benefits intent-and-risk catalogue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47488"/>
            <a:ext cx="1051560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C2430"/>
                </a:solidFill>
                <a:latin typeface="Aptos"/>
              </a:rPr>
              <a:t>Audit trail: source ID → prompt/instructions → output → verification → approval → final 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142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09 | Verification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 claim passes only when the source, control and reviewer agree.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56362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Match intent_id to the CSV 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156362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Row exists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7919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Meaning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66090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Interpret employee_intent using the scenario 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66090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No invented 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1188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7647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75818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General answers cite approved plan documents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375818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Human check recorded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09159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73751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Boundary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485546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No medical, legal or final entitlement advice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485546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Escalate exception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143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09 | Exception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Test normal and failure paths before a learner marks the solution ready.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0472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Normal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444752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BEN-01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44752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Grounded result with source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203704"/>
            <a:ext cx="10835640" cy="72237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68296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Missing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322576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risk_note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322576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Clarify or mark UNKNOWN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081528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46120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Unauthorised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200400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Cross-employee 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00400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Refuse and escalate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959352"/>
            <a:ext cx="10835640" cy="72237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23944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Failure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078224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Tool/connector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078224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No false success; retain audit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837176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001768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Duplicate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4956048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Same request twice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956048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One action or safe rejection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97880"/>
            <a:ext cx="106984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4363E"/>
                </a:solidFill>
                <a:latin typeface="Aptos"/>
              </a:rPr>
              <a:t>Pass only with recorded actual result, reviewer and evidence reference.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144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09 | Evidence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Submit a traceable artifact, not a polished output alone.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28216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Benefits intent-and-risk catalogue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42032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15768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Knowledge and tool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529584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703320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Privacy and regression test report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246120" cy="333756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810512"/>
            <a:ext cx="265176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RELEASE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340864"/>
            <a:ext cx="2651760" cy="22677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Aptos"/>
              </a:rPr>
              <a:t>Source linked
Uncertainty stated
Human owner named
Failure case tested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15000"/>
            <a:ext cx="1060704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38C5C"/>
                </a:solidFill>
                <a:latin typeface="Aptos"/>
              </a:rPr>
              <a:t>Save in Lab-09-Evidence-Workbook.xlsx  •  include prompt, output, checks and revision.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145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9: Build a Benefits Self-Service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Design a benefits agent that answers grounded general questions, retrieves authorised status and escalates consequential or sensitive cases.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62940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64208"/>
            <a:ext cx="1280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6080760" cy="9601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HR answers repetitive benefits questions by email and manually checks plan documents. Employees need fast information, but personal eligibility and claims require authenticated data and specialist review.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17320"/>
            <a:ext cx="4023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1664208"/>
            <a:ext cx="13716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2029968"/>
            <a:ext cx="3429000" cy="10058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• Microsoft Copilot Studio
• SharePoint
• Teams
• HRIS sandbox or mock connector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Benefits intent-and-risk catalogue
• Knowledge and tool design
• Privacy and regression test report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General answers cite approved plan documents
• Personal requests require authentication
• No medical, legal or final entitlement advice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07024"/>
            <a:ext cx="107899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86576"/>
                </a:solidFill>
                <a:latin typeface="Aptos"/>
              </a:rPr>
              <a:t>Detailed procedure, prompts and evidence checklist: Learner Guide + lab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146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9 success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Show your reasoning—not only a polished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Use the supplied synthetic case and approved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State assumptions, criteria and the human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5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Save prompts, output, checks, revisions and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Pass the acceptance criteria and answer reflection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7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4363E"/>
                </a:solidFill>
                <a:latin typeface="Aptos"/>
              </a:rPr>
              <a:t>Stop if the agent or Copilot output cannot be traced, corrected or safely escalated.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147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Unit 3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Connect concept, evidence and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8C5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2821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Key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350008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Agent Builder for knowledge; Copilot Studio for orchestration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508760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8C5C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72821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350008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What would make the recommendation reviewable?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26179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82211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8C5C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945635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Human 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567427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Who remains accountable?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3726179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982211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8C5C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945635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Next move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567427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What will you test or change?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148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58368"/>
            <a:ext cx="182880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LEARNING UNIT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515600" cy="10972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3800" b="1">
                <a:solidFill>
                  <a:srgbClr val="0C2340"/>
                </a:solidFill>
                <a:latin typeface="Aptos"/>
              </a:rPr>
              <a:t>Responsible Adoption and HR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743200"/>
            <a:ext cx="98755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0">
                <a:solidFill>
                  <a:srgbClr val="586576"/>
                </a:solidFill>
                <a:latin typeface="Aptos"/>
              </a:rPr>
              <a:t>Govern decisions, data, people and agent 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4160520"/>
            <a:ext cx="24231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586576"/>
                </a:solidFill>
                <a:latin typeface="Aptos"/>
              </a:rPr>
              <a:t>FRAME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5848" y="4160520"/>
            <a:ext cx="24231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4728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586576"/>
                </a:solidFill>
                <a:latin typeface="Aptos"/>
              </a:rPr>
              <a:t>GENERATE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53328" y="4160520"/>
            <a:ext cx="24231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4476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586576"/>
                </a:solidFill>
                <a:latin typeface="Aptos"/>
              </a:rPr>
              <a:t>ORCHESTRATE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50808" y="4160520"/>
            <a:ext cx="2423160" cy="658368"/>
          </a:xfrm>
          <a:prstGeom prst="roundRect">
            <a:avLst/>
          </a:prstGeom>
          <a:solidFill>
            <a:srgbClr val="EE7E20"/>
          </a:solidFill>
          <a:ln>
            <a:solidFill>
              <a:srgbClr val="EE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224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GOVERN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715000"/>
            <a:ext cx="987552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Concepts → evidence → activity → reflection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149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Why HR AI is high consequence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Employment decisions affect opportunity, income, dignity and trust.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Recruitment and promotion shape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Performance evidence can be incomplete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Employee data is sensitive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Power asymmetry raises consent concerns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150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Human involvement by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More consequential and less reversible decisions need stronger human authority.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Inform: AI drafts or retrieves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Recommend: AI proposes with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Approve: authorised human decides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Execute: agent acts only within approved bounds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151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From HR efficiency to enterprise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The strongest human-AI partnerships deliver better workforce solutions, speed and business impact.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Workforce solutions become more personalised and responsive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Agile portfolio management reduces time from need to usable service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Administrative capacity shifts to strategic and business-facing 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AI and technology fluency becomes a capability across HR, not an HRIS silo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152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Four implementation case vignettes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The supplied ebook illustrates value across recruitment, engagement, talent and performance.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Technology: screening and candidate chat; reported 30% faster hiring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Retail: feedback analysis; reported 20% lower turnover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Financial services: predictive talent and succession development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Healthcare: timely evidence for coaching and reviews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153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What successful implementations share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Technology works when objectives, people, monitoring and cross-functional ownership reinforce one another.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Start with a clear employee or business outcome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Involve employees early in design, testing and feedback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Continuously monitor quality, bias, drift and unintended effects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Pair HR process ownership with IT, legal, security and data expertise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154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Privacy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Minimise data before asking a model to protect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Purpose and lawful 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Minimum necessary fields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Access, retention and deletion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Incident and data-subject 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155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Fair hiring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Selection criteria must remain job-related, reviewable and consistently applied.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240280"/>
            <a:ext cx="38862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EE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2487168"/>
            <a:ext cx="3429000" cy="8229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C2340"/>
                </a:solidFill>
                <a:latin typeface="Aptos"/>
              </a:rPr>
              <a:t>Selection criteria must remain job-related, reviewable and consistently applied.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Fairly consider candidates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Exclude non-job-related protected traits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Keep interview and decision 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8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Provide human challenge and correction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156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Bias is a system property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Bias can enter through objectives, data, prompts, tools and human use.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Question proxy variables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Compare outcomes across relevant groups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Review false positives and negatives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Change process, not only the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157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Transparency and 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Employees need to know when AI is used and how to seek help.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Disclose the AI 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Show source and material factors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Explain limits and uncertainty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Provide an accessible human channel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158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Security and prompt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An agent can be manipulated through the text it reads.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Treat retrieved content as untrusted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Separate instructions from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Allow-list tools and destinations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Monitor anomalous 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159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Agent identity and least privilege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Every action should be attributable to an authorised identity.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240280"/>
            <a:ext cx="38862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EE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2487168"/>
            <a:ext cx="3429000" cy="8229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C2340"/>
                </a:solidFill>
                <a:latin typeface="Aptos"/>
              </a:rPr>
              <a:t>Every action should be attributable to an authorised identity.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Use named service or user 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Grant only required permissions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Separate maker, approver and operator roles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8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Review access and dormant 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160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Operational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Agents are digital workers that need owners, logs, limits and retirement.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Named business and technical owners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Versioned instructions and knowledge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Run-time monitoring and kill switch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Periodic validation and decommissioning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161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Success measures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Measure service, adoption, quality, risk and human value together.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Cycle time and first-contact resolution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Accuracy and evidence completeness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Escalation and override rates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Employee trust and time returned to people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162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Change and AI literacy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Adoption depends on role clarity and practical learning.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Explain what changes and what does not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Train prompting, review and escalation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Create champions and feedback loops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Recognise new work: agent owner, tester, steward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163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Build HR's AI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HR needs literacy, ethical judgement, product thinking and change leadership to operate AI well.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Teach AI capabilities, limitations and evidence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Establish privacy, fairness and responsible-use guidelines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Create cross-functional teams for design and sustainment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Communicate role changes and build continuous learning into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164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90-day responsible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Move from a bounded pilot to an owned capability through evidence gates.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Days 1–30: baseline, risk and prototype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Days 31–60: test, controls and user feedback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Days 61–90: measured pilot and operating handover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Scale only when value and control thresholds pass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165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10 | Source fields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Read the supplied synthetic CSV before asking Copilot to reason over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789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mock-data.csv  •  6 records  •  7 fields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team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8728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2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survey 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91656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wellbeing score 1 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44584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0888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avg weekly hours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absence days per fte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38728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85032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manager support 1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91656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data quality note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33872"/>
            <a:ext cx="1078992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E7E20"/>
                </a:solidFill>
                <a:latin typeface="Aptos"/>
              </a:rPr>
              <a:t>Source boundary  →  Synthetic records only; verify row IDs and field meaning before output.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166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10 | Evidence sample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Compare the output against real rows in the supplied lab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2121408" cy="548640"/>
          </a:xfrm>
          <a:prstGeom prst="rect">
            <a:avLst/>
          </a:prstGeom>
          <a:solidFill>
            <a:srgbClr val="EE7E20"/>
          </a:solidFill>
          <a:ln>
            <a:solidFill>
              <a:srgbClr val="EE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team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39" y="1508760"/>
            <a:ext cx="2121408" cy="548640"/>
          </a:xfrm>
          <a:prstGeom prst="rect">
            <a:avLst/>
          </a:prstGeom>
          <a:solidFill>
            <a:srgbClr val="EE7E20"/>
          </a:solidFill>
          <a:ln>
            <a:solidFill>
              <a:srgbClr val="EE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4436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survey 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508760"/>
            <a:ext cx="2121408" cy="548640"/>
          </a:xfrm>
          <a:prstGeom prst="rect">
            <a:avLst/>
          </a:prstGeom>
          <a:solidFill>
            <a:srgbClr val="EE7E20"/>
          </a:solidFill>
          <a:ln>
            <a:solidFill>
              <a:srgbClr val="EE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3892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wellbeing score 1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59" y="1508760"/>
            <a:ext cx="2121408" cy="548640"/>
          </a:xfrm>
          <a:prstGeom prst="rect">
            <a:avLst/>
          </a:prstGeom>
          <a:solidFill>
            <a:srgbClr val="EE7E20"/>
          </a:solidFill>
          <a:ln>
            <a:solidFill>
              <a:srgbClr val="EE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348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avg weekly hours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19" y="1508760"/>
            <a:ext cx="2121408" cy="548640"/>
          </a:xfrm>
          <a:prstGeom prst="rect">
            <a:avLst/>
          </a:prstGeom>
          <a:solidFill>
            <a:srgbClr val="EE7E20"/>
          </a:solidFill>
          <a:ln>
            <a:solidFill>
              <a:srgbClr val="EE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8047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data quality note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1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Hub Operations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3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7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48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3.1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5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19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47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1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5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Complete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1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Customer Service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3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7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62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3.4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5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19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44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1831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5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Complete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1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Planning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3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2607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14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0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2.9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5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19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49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1831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5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Small sample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650992"/>
            <a:ext cx="1078992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Evidence check  →  Point to the source row and column before accepting a summary or recommendation.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167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10 | Prompt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named fields, a bounded task and a verifiable output shape.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53312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99616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463040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Act as an HR analyst for the synthetic use ai for workforce wellness insights case.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76856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386584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Use only mock-data.csv; cite team and survey_n for each claim.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46704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310128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Use Copilot to analyse aggregated wellness evidence, identify organisational questions and prepare human-led interventions.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23944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70248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4233672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Return a table: source record | observation | uncertainty | recommendation | human check.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47488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93792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STOP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5157216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Write UNKNOWN when evidence is missing. Do not take a consequential HR action.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168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10 | Controlled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The agent or Copilot prepares evidence; an authorised person controls the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090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79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39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ANALYSE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Excel with Microsoft 365 Copilot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9262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239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Aggregate and minimise personal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4344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19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APPROVE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1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HR process owner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2124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RECORD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583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Aggregated wellness dashboard brief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47488"/>
            <a:ext cx="1051560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C2430"/>
                </a:solidFill>
                <a:latin typeface="Aptos"/>
              </a:rPr>
              <a:t>Audit trail: source ID → prompt/instructions → output → verification → approval → final 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169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10 | Verification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 claim passes only when the source, control and reviewer agree.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56362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Match team to the CSV 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156362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Row exists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7919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Meaning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66090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Interpret survey_n using the scenario 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66090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No invented 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1188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7647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75818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Aggregate and minimise personal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375818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Human check recorded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09159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73751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Boundary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485546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Employees have a clear human support route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485546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Escalate exception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170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10 | Exception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Test normal and failure paths before a learner marks the solution ready.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0472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Normal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444752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Hub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44752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Grounded result with source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203704"/>
            <a:ext cx="10835640" cy="72237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68296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Missing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322576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data_quality_note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322576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Clarify or mark UNKNOWN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081528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46120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Unauthorised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200400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Cross-employee 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00400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Refuse and escalate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959352"/>
            <a:ext cx="10835640" cy="72237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23944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Failure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078224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Tool/connector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078224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No false success; retain audit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837176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001768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Duplicate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4956048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Same request twice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956048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One action or safe rejection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97880"/>
            <a:ext cx="106984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4363E"/>
                </a:solidFill>
                <a:latin typeface="Aptos"/>
              </a:rPr>
              <a:t>Pass only with recorded actual result, reviewer and evidence reference.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171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10 | Evidence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Submit a traceable artifact, not a polished output alone.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28216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Aggregated wellness dashboard brief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42032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15768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Evidence-and-limitation 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529584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703320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Human-led intervention proposal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246120" cy="333756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810512"/>
            <a:ext cx="265176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RELEASE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340864"/>
            <a:ext cx="2651760" cy="22677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Aptos"/>
              </a:rPr>
              <a:t>Source linked
Uncertainty stated
Human owner named
Failure case tested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15000"/>
            <a:ext cx="1060704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E7E20"/>
                </a:solidFill>
                <a:latin typeface="Aptos"/>
              </a:rPr>
              <a:t>Save in Lab-10-Evidence-Workbook.xlsx  •  include prompt, output, checks and revision.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172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10: Use AI for Workforce Wellness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Copilot to analyse aggregated wellness evidence, identify organisational questions and prepare human-led interventions.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62940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64208"/>
            <a:ext cx="1280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6080760" cy="9601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HarbourLight has pulse surveys, absence patterns and workload data, but HR spends days combining them. Leaders want early signals without monitoring or diagnosing individuals.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17320"/>
            <a:ext cx="4023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1664208"/>
            <a:ext cx="13716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2029968"/>
            <a:ext cx="3429000" cy="10058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• Excel with Microsoft 365 Copilot
• Teams
• Word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Aggregated wellness dashboard brief
• Evidence-and-limitation log
• Human-led intervention proposal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Aggregate and minimise personal data
• No diagnosis or individual risk scoring
• Employees have a clear human support route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07024"/>
            <a:ext cx="107899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86576"/>
                </a:solidFill>
                <a:latin typeface="Aptos"/>
              </a:rPr>
              <a:t>Detailed procedure, prompts and evidence checklist: Learner Guide + lab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173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10 success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Show your reasoning—not only a polished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Use the supplied synthetic case and approved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State assumptions, criteria and the human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5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Save prompts, output, checks, revisions and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Pass the acceptance criteria and answer reflection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7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4363E"/>
                </a:solidFill>
                <a:latin typeface="Aptos"/>
              </a:rPr>
              <a:t>Stop if the agent or Copilot output cannot be traced, corrected or safely escalated.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174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11 | Source fields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Read the supplied synthetic CSV before asking Copilot to reason over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789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mock-data.csv  •  8 records  •  8 fields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task 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8728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2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offboarding outcome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91656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owner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44584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0888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due offset days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approval required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38728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85032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system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91656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44584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90888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failure 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833872"/>
            <a:ext cx="1078992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E7E20"/>
                </a:solidFill>
                <a:latin typeface="Aptos"/>
              </a:rPr>
              <a:t>Source boundary  →  Synthetic records only; verify row IDs and field meaning before output.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175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11 | Evidence sample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Compare the output against real rows in the supplied lab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2121408" cy="548640"/>
          </a:xfrm>
          <a:prstGeom prst="rect">
            <a:avLst/>
          </a:prstGeom>
          <a:solidFill>
            <a:srgbClr val="EE7E20"/>
          </a:solidFill>
          <a:ln>
            <a:solidFill>
              <a:srgbClr val="EE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task id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39" y="1508760"/>
            <a:ext cx="2121408" cy="548640"/>
          </a:xfrm>
          <a:prstGeom prst="rect">
            <a:avLst/>
          </a:prstGeom>
          <a:solidFill>
            <a:srgbClr val="EE7E20"/>
          </a:solidFill>
          <a:ln>
            <a:solidFill>
              <a:srgbClr val="EE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4436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offboarding outcome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508760"/>
            <a:ext cx="2121408" cy="548640"/>
          </a:xfrm>
          <a:prstGeom prst="rect">
            <a:avLst/>
          </a:prstGeom>
          <a:solidFill>
            <a:srgbClr val="EE7E20"/>
          </a:solidFill>
          <a:ln>
            <a:solidFill>
              <a:srgbClr val="EE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3892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owner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59" y="1508760"/>
            <a:ext cx="2121408" cy="548640"/>
          </a:xfrm>
          <a:prstGeom prst="rect">
            <a:avLst/>
          </a:prstGeom>
          <a:solidFill>
            <a:srgbClr val="EE7E20"/>
          </a:solidFill>
          <a:ln>
            <a:solidFill>
              <a:srgbClr val="EE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348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due offset days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19" y="1508760"/>
            <a:ext cx="2121408" cy="548640"/>
          </a:xfrm>
          <a:prstGeom prst="rect">
            <a:avLst/>
          </a:prstGeom>
          <a:solidFill>
            <a:srgbClr val="EE7E20"/>
          </a:solidFill>
          <a:ln>
            <a:solidFill>
              <a:srgbClr val="EE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8047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failure test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1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OFF-01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3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7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Confirm exit event and date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HR Partner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5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19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-14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1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5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Cancelled exit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1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OFF-02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3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7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Agree knowledge transfer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Line Manager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5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19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-10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1831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5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Missing handover owner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1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OFF-03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3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2607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Confirm asset inventory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0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Facilities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5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19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-5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1831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5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Missing laptop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650992"/>
            <a:ext cx="1078992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Evidence check  →  Point to the source row and column before accepting a summary or recommendation.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176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11 | Prompt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named fields, a bounded task and a verifiable output shape.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53312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99616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463040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Act as an HR analyst for the synthetic automate safe employee offboarding case.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76856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386584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Use only mock-data.csv; cite task_id and offboarding_outcome for each claim.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46704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310128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Design a Copilot Studio offboarding agent and controlled flow that reduces follow-up while preserving separation of duties and respectful communication.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23944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70248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4233672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Return a table: source record | observation | uncertainty | recommendation | human check.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47488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93792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STOP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5157216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Write UNKNOWN when evidence is missing. Do not take a consequential HR action.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177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11 | Controlled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The agent or Copilot prepares evidence; an authorised person controls the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task 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090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79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39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ANALYSE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Microsoft Copilot Studio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9262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239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Confirmed exit event before 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4344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19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APPROVE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1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HR process owner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2124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RECORD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583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Offboarding journey and RACI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47488"/>
            <a:ext cx="1051560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C2430"/>
                </a:solidFill>
                <a:latin typeface="Aptos"/>
              </a:rPr>
              <a:t>Audit trail: source ID → prompt/instructions → output → verification → approval → final 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178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11 | Verification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 claim passes only when the source, control and reviewer agree.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56362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Match task_id to the CSV 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156362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Row exists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7919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Meaning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66090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Interpret offboarding_outcome using the scenario 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66090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No invented 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1188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7647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75818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Confirmed exit event before 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375818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Human check recorded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09159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73751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Boundary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485546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Knowledge and personal data retention are purpose-limited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485546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Escalate exception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179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11 | Exception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Test normal and failure paths before a learner marks the solution ready.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0472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Normal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444752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OFF-01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44752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Grounded result with source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203704"/>
            <a:ext cx="10835640" cy="72237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68296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Missing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322576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failure_test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322576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Clarify or mark UNKNOWN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081528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46120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Unauthorised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200400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Cross-employee 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00400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Refuse and escalate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959352"/>
            <a:ext cx="10835640" cy="72237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23944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Failure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078224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Tool/connector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078224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No false success; retain audit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837176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001768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Duplicate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4956048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Same request twice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956048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One action or safe rejection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97880"/>
            <a:ext cx="106984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4363E"/>
                </a:solidFill>
                <a:latin typeface="Aptos"/>
              </a:rPr>
              <a:t>Pass only with recorded actual result, reviewer and evidence reference.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180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11 | Evidence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Submit a traceable artifact, not a polished output alone.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28216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Offboarding journey and RACI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42032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15768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Tool and approval map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529584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703320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Security, privacy and failure test report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246120" cy="333756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810512"/>
            <a:ext cx="265176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RELEASE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340864"/>
            <a:ext cx="2651760" cy="22677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Aptos"/>
              </a:rPr>
              <a:t>Source linked
Uncertainty stated
Human owner named
Failure case tested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15000"/>
            <a:ext cx="1060704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E7E20"/>
                </a:solidFill>
                <a:latin typeface="Aptos"/>
              </a:rPr>
              <a:t>Save in Lab-11-Evidence-Workbook.xlsx  •  include prompt, output, checks and revision.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181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11: Automate Safe Employee Offboarding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Design a Copilot Studio offboarding agent and controlled flow that reduces follow-up while preserving separation of duties and respectful communication.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62940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64208"/>
            <a:ext cx="1280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6080760" cy="9601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A synthetic employee is leaving HarbourLight. HR currently coordinates payroll, assets, access, knowledge transfer and exit communication through separate emails, creating missed tasks and security risk.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17320"/>
            <a:ext cx="4023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1664208"/>
            <a:ext cx="13716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2029968"/>
            <a:ext cx="3429000" cy="10058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• Microsoft Copilot Studio
• Power Automate or agent flows
• Teams
• SharePoint
• HRIS sandbox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Offboarding journey and RACI
• Tool and approval map
• Security, privacy and failure test report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Confirmed exit event before action
• Separate HR, payroll, asset and access approvals
• Knowledge and personal data retention are purpose-limited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07024"/>
            <a:ext cx="107899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86576"/>
                </a:solidFill>
                <a:latin typeface="Aptos"/>
              </a:rPr>
              <a:t>Detailed procedure, prompts and evidence checklist: Learner Guide + lab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182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11 success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Show your reasoning—not only a polished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Use the supplied synthetic case and approved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State assumptions, criteria and the human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5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Save prompts, output, checks, revisions and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Pass the acceptance criteria and answer reflection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7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4363E"/>
                </a:solidFill>
                <a:latin typeface="Aptos"/>
              </a:rPr>
              <a:t>Stop if the agent or Copilot output cannot be traced, corrected or safely escalated.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183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12 | Source fields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Read the supplied synthetic CSV before asking Copilot to reason over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789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mock-data.csv  •  9 records  •  9 fields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solution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8728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2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baseline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91656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current minutes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44584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0888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accuracy pct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escalation pct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38728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85032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employee trust 1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91656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open incidents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44584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90888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owner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776472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" y="3904487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recommended decision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33872"/>
            <a:ext cx="1078992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E7E20"/>
                </a:solidFill>
                <a:latin typeface="Aptos"/>
              </a:rPr>
              <a:t>Source boundary  →  Synthetic records only; verify row IDs and field meaning before output.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184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12 | Evidence sample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Compare the output against real rows in the supplied lab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2121408" cy="548640"/>
          </a:xfrm>
          <a:prstGeom prst="rect">
            <a:avLst/>
          </a:prstGeom>
          <a:solidFill>
            <a:srgbClr val="EE7E20"/>
          </a:solidFill>
          <a:ln>
            <a:solidFill>
              <a:srgbClr val="EE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39" y="1508760"/>
            <a:ext cx="2121408" cy="548640"/>
          </a:xfrm>
          <a:prstGeom prst="rect">
            <a:avLst/>
          </a:prstGeom>
          <a:solidFill>
            <a:srgbClr val="EE7E20"/>
          </a:solidFill>
          <a:ln>
            <a:solidFill>
              <a:srgbClr val="EE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4436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baseline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508760"/>
            <a:ext cx="2121408" cy="548640"/>
          </a:xfrm>
          <a:prstGeom prst="rect">
            <a:avLst/>
          </a:prstGeom>
          <a:solidFill>
            <a:srgbClr val="EE7E20"/>
          </a:solidFill>
          <a:ln>
            <a:solidFill>
              <a:srgbClr val="EE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3892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current minutes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59" y="1508760"/>
            <a:ext cx="2121408" cy="548640"/>
          </a:xfrm>
          <a:prstGeom prst="rect">
            <a:avLst/>
          </a:prstGeom>
          <a:solidFill>
            <a:srgbClr val="EE7E20"/>
          </a:solidFill>
          <a:ln>
            <a:solidFill>
              <a:srgbClr val="EE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348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accuracy pct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19" y="1508760"/>
            <a:ext cx="2121408" cy="548640"/>
          </a:xfrm>
          <a:prstGeom prst="rect">
            <a:avLst/>
          </a:prstGeom>
          <a:solidFill>
            <a:srgbClr val="EE7E20"/>
          </a:solidFill>
          <a:ln>
            <a:solidFill>
              <a:srgbClr val="EE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8047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recommended decision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1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Talent needs Copilot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3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7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480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210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5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19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92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1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5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Scale with data-quality gate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1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JD Copilot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3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7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180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65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5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19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95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1831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5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Scale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1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Screening 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3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2607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720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0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260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5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19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89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1831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5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Remediate fairness test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650992"/>
            <a:ext cx="1078992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Evidence check  →  Point to the source row and column before accepting a summary or recommendation.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185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12 | Prompt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named fields, a bounded task and a verifiable output shape.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53312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99616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463040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Act as an HR analyst for the synthetic capstone: operate the hr agent control room case.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76856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386584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Use only mock-data.csv; cite solution and baseline_minutes for each claim.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46704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310128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Use lifecycle, service, risk, adoption and human-value evidence to govern the full HR AI operating system.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23944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70248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4233672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Return a table: source record | observation | uncertainty | recommendation | human check.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47488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93792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STOP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5157216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Write UNKNOWN when evidence is missing. Do not take a consequential HR action.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186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12 | Controlled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The agent or Copilot prepares evidence; an authorised person controls the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090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79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39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ANALYSE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Excel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9262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239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No scale without control thresholds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4344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19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APPROVE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1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HR process owner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2124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RECORD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583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End-to-end HR AI service 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47488"/>
            <a:ext cx="1051560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C2430"/>
                </a:solidFill>
                <a:latin typeface="Aptos"/>
              </a:rPr>
              <a:t>Audit trail: source ID → prompt/instructions → output → verification → approval → final 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187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12 | Verification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 claim passes only when the source, control and reviewer agree.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56362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Match solution to the CSV 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156362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Row exists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7919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Meaning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66090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Interpret baseline_minutes using the scenario 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66090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No invented 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1188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7647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75818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No scale without control thresholds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375818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Human check recorded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09159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73751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Boundary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485546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Named owner and retirement 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485546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Escalate exception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188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12 | Exception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Test normal and failure paths before a learner marks the solution ready.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0472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Normal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444752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Talent needs Copilot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44752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Grounded result with source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203704"/>
            <a:ext cx="10835640" cy="72237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68296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Missing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322576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recommended_decision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322576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Clarify or mark UNKNOWN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081528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46120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Unauthorised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200400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Cross-employee 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00400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Refuse and escalate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959352"/>
            <a:ext cx="10835640" cy="72237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23944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Failure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078224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Tool/connector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078224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No false success; retain audit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837176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001768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Duplicate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4956048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Same request twice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956048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One action or safe rejection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97880"/>
            <a:ext cx="106984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4363E"/>
                </a:solidFill>
                <a:latin typeface="Aptos"/>
              </a:rPr>
              <a:t>Pass only with recorded actual result, reviewer and evidence reference.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189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12 | Evidence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Submit a traceable artifact, not a polished output alone.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28216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End-to-end HR AI service 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42032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15768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Agent scorecard and incident response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529584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703320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90-day roadmap and executive recommendation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246120" cy="333756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810512"/>
            <a:ext cx="265176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RELEASE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340864"/>
            <a:ext cx="2651760" cy="22677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Aptos"/>
              </a:rPr>
              <a:t>Source linked
Uncertainty stated
Human owner named
Failure case tested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15000"/>
            <a:ext cx="1060704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E7E20"/>
                </a:solidFill>
                <a:latin typeface="Aptos"/>
              </a:rPr>
              <a:t>Save in Lab-12-Evidence-Workbook.xlsx  •  include prompt, output, checks and revision.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190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12: Capstone: Operate the HR Agent Control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lifecycle, service, risk, adoption and human-value evidence to govern the full HR AI operating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62940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64208"/>
            <a:ext cx="1280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6080760" cy="9601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HarbourLight now uses generative AI and agents across talent planning, hiring, onboarding, development, policy, leave, benefits, wellness and offboarding. Leaders must decide what to scale, remediate, pause or retire.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17320"/>
            <a:ext cx="4023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1664208"/>
            <a:ext cx="13716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2029968"/>
            <a:ext cx="3429000" cy="10058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• Excel
• Teams
• Microsoft 365 Copilot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End-to-end HR AI service map
• Agent scorecard and incident response
• 90-day roadmap and executive recommendation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No scale without control thresholds
• Employee feedback included
• Named owner and retirement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07024"/>
            <a:ext cx="107899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86576"/>
                </a:solidFill>
                <a:latin typeface="Aptos"/>
              </a:rPr>
              <a:t>Detailed procedure, prompts and evidence checklist: Learner Guide + lab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191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12 success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Show your reasoning—not only a polished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Use the supplied synthetic case and approved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State assumptions, criteria and the human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5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Save prompts, output, checks, revisions and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Pass the acceptance criteria and answer reflection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7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4363E"/>
                </a:solidFill>
                <a:latin typeface="Aptos"/>
              </a:rPr>
              <a:t>Stop if the agent or Copilot output cannot be traced, corrected or safely escalated.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192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Unit 4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Connect concept, evidence and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E7E2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2821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Key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350008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Govern decisions, data, people and agent operations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508760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E7E20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72821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350008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What would make the recommendation reviewable?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26179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82211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E7E20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945635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Human 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567427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Who remains accountable?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3726179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982211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E7E20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945635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Next move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567427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What will you test or change?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193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 balanced HR AI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Speed is useful only when quality, trust and control remain healthy.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1554480"/>
          <a:ext cx="66751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818120" y="1554480"/>
            <a:ext cx="3566160" cy="416052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19872" y="1828800"/>
            <a:ext cx="29260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READ TOGETHER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9872" y="2331720"/>
            <a:ext cx="2880360" cy="25146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A lower cycle time cannot compensate for weak evidence, falling trust or missing approvals. Pair one value metric with at least one quality and one risk guardrail.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194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HR lifecycle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One operating system, many employee moments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2821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Attract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350008"/>
            <a:ext cx="4160520" cy="30784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Workforce planning, job design, recruitment and selection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50876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72821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Join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350008"/>
            <a:ext cx="4160520" cy="30784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Onboarding, access, policy and manager connection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8704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4307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20649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Grow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828288"/>
            <a:ext cx="4160520" cy="30784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Performance, learning, mobility and engagement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298704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24307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20649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Serve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828288"/>
            <a:ext cx="4160520" cy="30784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Leave, benefits, payroll and employee relations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46532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72135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68477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Exit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306567"/>
            <a:ext cx="4160520" cy="30784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Offboarding, access, assets and knowledge transfer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80760" y="446532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472135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468477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Operate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5306567"/>
            <a:ext cx="4160520" cy="30784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Metrics, incidents, governance and retirement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195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The responsible-agent operating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Agents remain a managed organisational capability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8C5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2821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1. Observe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350008"/>
            <a:ext cx="4160520" cy="30784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Service, quality, adoption and risk signals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50876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8C5C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72821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2.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350008"/>
            <a:ext cx="4160520" cy="30784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Human owner inspects evidence and exceptions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8704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4307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8C5C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20649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3. Improve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828288"/>
            <a:ext cx="4160520" cy="30784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Update knowledge, instructions, tools or process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298704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24307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8C5C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20649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4. Validate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828288"/>
            <a:ext cx="4160520" cy="30784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Regression, fairness, security and user testing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46532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72135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8C5C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68477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5. Decide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306567"/>
            <a:ext cx="4160520" cy="30784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Scale, remediate, pause or retire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196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Your 90-day pathway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Move through evidence gates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398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E7E2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28216"/>
            <a:ext cx="234696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Days 1–30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350008"/>
            <a:ext cx="2346960" cy="326440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Baseline • use-case boundary • privacy/risk review • prototype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200" y="1508760"/>
            <a:ext cx="3398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580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E7E20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5880" y="1728216"/>
            <a:ext cx="234696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Days 31–60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5880" y="2350008"/>
            <a:ext cx="2346960" cy="326440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Test • human controls • user feedback • operating design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94320" y="1508760"/>
            <a:ext cx="3398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292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E7E20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2999" y="1728216"/>
            <a:ext cx="234696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Days 61–90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2999" y="2350008"/>
            <a:ext cx="2346960" cy="326440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Measured pilot • incident rehearsal • scale decision • handover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197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AI to return HR capacity to people and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2821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Reduce administration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350008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Remove repetitive search, drafting, rekeying and follow-up.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508760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72821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Improve productivity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350008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Deliver faster, more consistent and evidence-led HR services.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26179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82211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945635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Elevate HR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567427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Redirect saved time to workforce strategy, coaching and employee care.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3726179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982211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945635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Govern the change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567427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Keep evidence, human authority, privacy and fairness visible.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198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C43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Assessment reminder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Demonstrate your own competence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398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C4363E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28216"/>
            <a:ext cx="234696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Written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350008"/>
            <a:ext cx="2346960" cy="326440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60 minutes • K1–K5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200" y="1508760"/>
            <a:ext cx="3398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580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C4363E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5880" y="1728216"/>
            <a:ext cx="234696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Case Study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5880" y="2350008"/>
            <a:ext cx="2346960" cy="326440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60 minutes • A1–A5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94320" y="1508760"/>
            <a:ext cx="3398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292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C4363E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2999" y="1728216"/>
            <a:ext cx="234696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Before submission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2999" y="2350008"/>
            <a:ext cx="2346960" cy="326440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Answer every part • check evidence • protect confidentiality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199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Assessment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ON ASSESSMENT 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1874519" cy="324612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874519" cy="7315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16736" y="1993392"/>
            <a:ext cx="566928" cy="566928"/>
          </a:xfrm>
          <a:prstGeom prst="ellipse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6736" y="2148840"/>
            <a:ext cx="566928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971800"/>
            <a:ext cx="1545336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C2340"/>
                </a:solidFill>
                <a:latin typeface="Aptos"/>
              </a:rPr>
              <a:t>TRAQOM survey
on the LMS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788920"/>
            <a:ext cx="310896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071BC"/>
                </a:solidFill>
                <a:latin typeface="Aptos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1572768"/>
            <a:ext cx="1874519" cy="324612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80360" y="1572768"/>
            <a:ext cx="1874519" cy="7315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38728" y="1993392"/>
            <a:ext cx="566928" cy="566928"/>
          </a:xfrm>
          <a:prstGeom prst="ellipse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8728" y="2148840"/>
            <a:ext cx="566928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4952" y="2971800"/>
            <a:ext cx="1545336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C2340"/>
                </a:solidFill>
                <a:latin typeface="Aptos"/>
              </a:rPr>
              <a:t>Assessment digital
attendance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2788920"/>
            <a:ext cx="310896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071BC"/>
                </a:solidFill>
                <a:latin typeface="Aptos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02352" y="1572768"/>
            <a:ext cx="1874519" cy="324612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02352" y="1572768"/>
            <a:ext cx="1874519" cy="7315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60720" y="1993392"/>
            <a:ext cx="566928" cy="566928"/>
          </a:xfrm>
          <a:prstGeom prst="ellipse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2148840"/>
            <a:ext cx="566928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66944" y="2971800"/>
            <a:ext cx="1545336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C2340"/>
                </a:solidFill>
                <a:latin typeface="Aptos"/>
              </a:rPr>
              <a:t>Sit WA then
Case Study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04304" y="2788920"/>
            <a:ext cx="310896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071BC"/>
                </a:solidFill>
                <a:latin typeface="Aptos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24344" y="1572768"/>
            <a:ext cx="1874519" cy="324612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24344" y="1572768"/>
            <a:ext cx="1874519" cy="7315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82712" y="1993392"/>
            <a:ext cx="566928" cy="566928"/>
          </a:xfrm>
          <a:prstGeom prst="ellipse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82712" y="2148840"/>
            <a:ext cx="566928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88936" y="2971800"/>
            <a:ext cx="1545336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C2340"/>
                </a:solidFill>
                <a:latin typeface="Aptos"/>
              </a:rPr>
              <a:t>Submit answers
on the LMS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6296" y="2788920"/>
            <a:ext cx="310896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071BC"/>
                </a:solidFill>
                <a:latin typeface="Aptos"/>
              </a:rPr>
              <a:t>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46336" y="1572768"/>
            <a:ext cx="1874519" cy="324612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46336" y="1572768"/>
            <a:ext cx="1874519" cy="7315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04704" y="1993392"/>
            <a:ext cx="566928" cy="566928"/>
          </a:xfrm>
          <a:prstGeom prst="ellipse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04704" y="2148840"/>
            <a:ext cx="566928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10928" y="2971800"/>
            <a:ext cx="1545336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C2340"/>
                </a:solidFill>
                <a:latin typeface="Aptos"/>
              </a:rPr>
              <a:t>Sign Assessment
Summary Record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200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Digital Attendance (Mandatory)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TRAQOM · SSG DIGITAL ATTENDANCE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33756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38528"/>
            <a:ext cx="288036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600" b="1">
                <a:solidFill>
                  <a:srgbClr val="0071BC"/>
                </a:solidFill>
                <a:latin typeface="Aptos"/>
              </a:rPr>
              <a:t>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61488"/>
            <a:ext cx="2697480" cy="6583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0C2340"/>
                </a:solidFill>
                <a:latin typeface="Aptos"/>
              </a:rPr>
              <a:t>Start of morning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33088" y="2670048"/>
            <a:ext cx="36576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691640"/>
            <a:ext cx="333756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1938528"/>
            <a:ext cx="288036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600" b="1">
                <a:solidFill>
                  <a:srgbClr val="0071BC"/>
                </a:solidFill>
                <a:latin typeface="Aptos"/>
              </a:rPr>
              <a:t>PM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761488"/>
            <a:ext cx="2697480" cy="6583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0C2340"/>
                </a:solidFill>
                <a:latin typeface="Aptos"/>
              </a:rPr>
              <a:t>Start of afternoon session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3568" y="2670048"/>
            <a:ext cx="36576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691640"/>
            <a:ext cx="333756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1938528"/>
            <a:ext cx="288036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600" b="1">
                <a:solidFill>
                  <a:srgbClr val="0071BC"/>
                </a:solidFill>
                <a:latin typeface="Aptos"/>
              </a:rPr>
              <a:t>ASSESSMENT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2761488"/>
            <a:ext cx="2697480" cy="6583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0C2340"/>
                </a:solidFill>
                <a:latin typeface="Aptos"/>
              </a:rPr>
              <a:t>Before WA and Case Study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4736592"/>
            <a:ext cx="10058400" cy="768096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98448" y="4937760"/>
            <a:ext cx="9555480" cy="35661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C2430"/>
                </a:solidFill>
                <a:latin typeface="Aptos"/>
              </a:rPr>
              <a:t>Trainer displays the SSG QR code  →  learner scans and submits each 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833872"/>
            <a:ext cx="1005840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C4363E"/>
                </a:solidFill>
                <a:latin typeface="Aptos"/>
              </a:rPr>
              <a:t>Eligibility check: at least 75% attendance plus a Competent assessment result.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201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Design HR AI that gives people better service and humans better judgement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398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28216"/>
            <a:ext cx="234696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350008"/>
            <a:ext cx="2346960" cy="326440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Microsoft Copilot for HR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200" y="1508760"/>
            <a:ext cx="3398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580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5880" y="1728216"/>
            <a:ext cx="234696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5880" y="2350008"/>
            <a:ext cx="2346960" cy="326440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TGS-2024045795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94320" y="1508760"/>
            <a:ext cx="3398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292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2999" y="1728216"/>
            <a:ext cx="234696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Resources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2999" y="2350008"/>
            <a:ext cx="2346960" cy="326440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LMS/TMS course portal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Microsoft Copilot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202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