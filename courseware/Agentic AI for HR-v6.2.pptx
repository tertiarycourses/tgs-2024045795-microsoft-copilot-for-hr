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ACB8C4"/>
            </a:solidFill>
          </c:spPr>
          <c:cat>
            <c:strRef>
              <c:f>Sheet1!$A$2:$A$6</c:f>
              <c:strCache>
                <c:ptCount val="5"/>
                <c:pt idx="0">
                  <c:v>Cycle time</c:v>
                </c:pt>
                <c:pt idx="1">
                  <c:v>Accuracy</c:v>
                </c:pt>
                <c:pt idx="2">
                  <c:v>Adoption</c:v>
                </c:pt>
                <c:pt idx="3">
                  <c:v>Trust</c:v>
                </c:pt>
                <c:pt idx="4">
                  <c:v>Control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72</c:v>
                </c:pt>
                <c:pt idx="2">
                  <c:v>35</c:v>
                </c:pt>
                <c:pt idx="3">
                  <c:v>68</c:v>
                </c:pt>
                <c:pt idx="4">
                  <c:v>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Pilot target</c:v>
                </c:pt>
              </c:strCache>
            </c:strRef>
          </c:tx>
          <c:spPr>
            <a:solidFill>
              <a:srgbClr val="238C5C"/>
            </a:solidFill>
          </c:spPr>
          <c:cat>
            <c:strRef>
              <c:f>Sheet1!$A$2:$A$6</c:f>
              <c:strCache>
                <c:ptCount val="5"/>
                <c:pt idx="0">
                  <c:v>Cycle time</c:v>
                </c:pt>
                <c:pt idx="1">
                  <c:v>Accuracy</c:v>
                </c:pt>
                <c:pt idx="2">
                  <c:v>Adoption</c:v>
                </c:pt>
                <c:pt idx="3">
                  <c:v>Trust</c:v>
                </c:pt>
                <c:pt idx="4">
                  <c:v>Control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70</c:v>
                </c:pt>
                <c:pt idx="1">
                  <c:v>90</c:v>
                </c:pt>
                <c:pt idx="2">
                  <c:v>65</c:v>
                </c:pt>
                <c:pt idx="3">
                  <c:v>80</c:v>
                </c:pt>
                <c:pt idx="4">
                  <c:v>92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2226939960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https://www.tertiarycourses.com.sg/wsq-agentic-ai-for-hr.html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https://exams.tertiaryinfotech.com/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https://www.ibm.com/think/topics/ai-in-hr</a:t>
            </a:r>
          </a:p>
          <a:p>
            <a:r>
              <a:t>https://www.zendesk.com/blog/ai/workflow-automation/ai-in-hr/</a:t>
            </a:r>
          </a:p>
          <a:p>
            <a:r>
              <a:t>AI Revolution in Human Resources: Transforming HR Management with Artificial Intelligence (2023 user-supplied ebook)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Deloitte, The Future of HR, Powered by AI (user-supplied reference deck)</a:t>
            </a:r>
          </a:p>
          <a:p>
            <a:r>
              <a:t>https://www.mckinsey.com/capabilities/people-and-organizational-performance/our-insights/the-organization-blog/four-ways-to-start-using-generative-ai-in-hr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Deloitte, The Future of HR, Powered by AI (user-supplied reference deck)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https://www.ibm.com/think/topics/ai-agents-in-human-resources</a:t>
            </a:r>
          </a:p>
          <a:p>
            <a:r>
              <a:t>https://www.hrci.org/community/blogs-and-announcements/hr-leads-business-blog/hr-leads-business/2025/08/21/agentic-ai-in-hr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Deloitte, The Future of HR, Powered by AI (user-supplied reference deck)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Deloitte, The Future of HR, Powered by AI (user-supplied reference deck)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https://www.ibm.com/think/topics/ai-in-hr</a:t>
            </a:r>
          </a:p>
          <a:p>
            <a:r>
              <a:t>https://www.zendesk.com/blog/ai/workflow-automation/ai-in-hr/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https://www.mckinsey.com/capabilities/people-and-organizational-performance/our-insights/the-organization-blog/four-ways-to-start-using-generative-ai-in-hr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https://www.ibm.com/think/topics/ai-agents-in-human-resources</a:t>
            </a:r>
          </a:p>
          <a:p>
            <a:r>
              <a:t>https://www.moveworks.com/us/en/resources/blog/agentic-ai-in-hr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https://www.strategyand.pwc.com/de/en/functions/organisational-strategy/agentic-ai-in-hr.html</a:t>
            </a:r>
          </a:p>
          <a:p>
            <a:r>
              <a:t>https://www.microsoft.com/en-sg/microsoft-365-copilot/microsoft-copilot-studio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https://www.microsoft.com/en-sg/microsoft-365-copilot/microsoft-copilot-studio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Deloitte, The Future of HR, Powered by AI (user-supplied reference deck)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https://www.ibm.com/think/topics/ai-agents-in-human-resources</a:t>
            </a:r>
          </a:p>
          <a:p>
            <a:r>
              <a:t>https://www.awinfracloud.com/blog/build-hr-agent-copilot-studio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https://www.sap.com/resources/ai-for-hr</a:t>
            </a:r>
          </a:p>
          <a:p>
            <a:r>
              <a:t>https://www.ibm.com/think/topics/ai-agents-in-human-resources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https://www.mckinsey.com/capabilities/people-and-organizational-performance/our-insights/the-organization-blog/four-ways-to-start-using-generative-ai-in-hr</a:t>
            </a:r>
          </a:p>
          <a:p>
            <a:r>
              <a:t>https://www.auxis.com/ai-in-hr-examples-types-use-cases-best-practices/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https://www.gartner.com/en/human-resources/topics/artificial-intelligence-in-hr</a:t>
            </a:r>
          </a:p>
          <a:p>
            <a:r>
              <a:t>https://www.auxis.com/ai-in-hr-examples-types-use-cases-best-practices/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https://www.gartner.com/en/human-resources/topics/artificial-intelligence-in-hr</a:t>
            </a:r>
          </a:p>
          <a:p>
            <a:r>
              <a:t>https://www.strategyand.pwc.com/de/en/functions/organisational-strategy/agentic-ai-in-hr.html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https://www.auxis.com/ai-in-hr-examples-types-use-cases-best-practices/</a:t>
            </a:r>
          </a:p>
          <a:p>
            <a:r>
              <a:t>https://www.strategyand.pwc.com/de/en/functions/organisational-strategy/agentic-ai-in-hr.html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https://github.com/tertiarycourses/TGS-2024045795-Agentic-AI-for-HR/tree/master/activities/Activity-01-assess-talent-needs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https://github.com/tertiarycourses/TGS-2024045795-Agentic-AI-for-HR/tree/master/activities/Activity-01-assess-talent-needs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https://github.com/tertiarycourses/TGS-2024045795-Agentic-AI-for-HR/tree/master/activities/Activity-02-draft-job-description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https://github.com/tertiarycourses/TGS-2024045795-Agentic-AI-for-HR/tree/master/activities/Activity-02-draft-job-description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https://github.com/tertiarycourses/TGS-2024045795-Agentic-AI-for-HR/tree/master/activities/Activity-03-fair-resume-screening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https://github.com/tertiarycourses/TGS-2024045795-Agentic-AI-for-HR/tree/master/activities/Activity-03-fair-resume-screening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https://www.gartner.com/en/human-resources/topics/artificial-intelligence-in-hr</a:t>
            </a:r>
          </a:p>
          <a:p>
            <a:r>
              <a:t>https://www.microsoft.com/en-us/microsoft-copilot/copilot-101/ai-for-hr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https://www.mom.gov.sg/employment-practices/fair-consideration-framework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https://www.sap.com/resources/ai-for-hr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https://www.mom.gov.sg/employment-practices/fair-consideration-framework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https://www.sap.com/resources/ai-for-hr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https://www.zendesk.com/blog/ai/workflow-automation/ai-in-hr/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https://adoption.microsoft.com/en-us/scenario-library/human-resources/improve-onboarding-and-development-processes-copilot-studio/</a:t>
            </a:r>
          </a:p>
          <a:p>
            <a:r>
              <a:t>https://www.sap.com/resources/ai-for-hr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 Revolution in Human Resources: Transforming HR Management with Artificial Intelligence (2023 user-supplied ebook)</a:t>
            </a:r>
          </a:p>
          <a:p>
            <a:r>
              <a:t>https://www.microsoft.com/en-us/microsoft-copilot/copilot-101/ai-for-hr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 Revolution in Human Resources: Transforming HR Management with Artificial Intelligence (2023 user-supplied ebook)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https://www.microsoft.com/en-us/microsoft-copilot/copilot-101/ai-for-hr</a:t>
            </a:r>
          </a:p>
          <a:p>
            <a:r>
              <a:t>https://www.sap.com/resources/ai-for-hr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https://www.gartner.com/en/human-resources/topics/artificial-intelligence-in-hr</a:t>
            </a:r>
          </a:p>
          <a:p>
            <a:r>
              <a:t>https://www.sap.com/resources/ai-for-hr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https://www.gartner.com/en/human-resources/topics/artificial-intelligence-in-hr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https://github.com/tertiarycourses/TGS-2024045795-Agentic-AI-for-HR/tree/master/activities/Activity-04-structured-ai-interview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https://github.com/tertiarycourses/TGS-2024045795-Agentic-AI-for-HR/tree/master/activities/Activity-04-structured-ai-interview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https://github.com/tertiarycourses/TGS-2024045795-Agentic-AI-for-HR/tree/master/activities/Activity-05-onboarding-coordination-agent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https://github.com/tertiarycourses/TGS-2024045795-Agentic-AI-for-HR/tree/master/activities/Activity-05-onboarding-coordination-agent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https://github.com/tertiarycourses/TGS-2024045795-Agentic-AI-for-HR/tree/master/activities/Activity-06-talent-development-copilot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https://github.com/tertiarycourses/TGS-2024045795-Agentic-AI-for-HR/tree/master/activities/Activity-06-talent-development-copilot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https://www.microsoft.com/en-sg/microsoft-365-copilot/microsoft-copilot-studio</a:t>
            </a:r>
          </a:p>
          <a:p>
            <a:r>
              <a:t>https://www.microsoft.com/en-us/microsoft-copilot/blog/copilot-studio/transform-hr-with-ai-powered-agents/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https://adoption.microsoft.com/en-us/scenario-library/human-resources/improve-onboarding-and-development-processes-copilot-studio/</a:t>
            </a:r>
          </a:p>
          <a:p>
            <a:r>
              <a:t>https://www.microsoft.com/en-sg/microsoft-365-copilot/microsoft-copilot-studio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https://www.microsoft.com/en-sg/microsoft-365-copilot/microsoft-copilot-studio</a:t>
            </a:r>
          </a:p>
          <a:p>
            <a:r>
              <a:t>https://www.awinfracloud.com/blog/build-hr-agent-copilot-studio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 Revolution in Human Resources: Transforming HR Management with Artificial Intelligence (2023 user-supplied ebook)</a:t>
            </a:r>
          </a:p>
          <a:p>
            <a:r>
              <a:t>https://www.microsoft.com/en-sg/microsoft-365-copilot/microsoft-copilot-studio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https://www.awinfracloud.com/blog/build-hr-agent-copilot-studio</a:t>
            </a:r>
          </a:p>
          <a:p>
            <a:r>
              <a:t>https://adoption.microsoft.com/en-us/ai-agents/employee-self-service-agent/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https://www.ibm.com/think/topics/ai-agents-in-human-resources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https://www.microsoft.com/en-us/microsoft-copilot/blog/copilot-studio/transform-hr-with-ai-powered-agents/</a:t>
            </a:r>
          </a:p>
          <a:p>
            <a:r>
              <a:t>https://adoption.microsoft.com/en-us/ai-agents/employee-self-service-agent/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https://www.awinfracloud.com/blog/build-hr-agent-copilot-studio</a:t>
            </a:r>
          </a:p>
          <a:p>
            <a:r>
              <a:t>https://www.zendesk.com/blog/ai/workflow-automation/ai-in-hr/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https://adoption.microsoft.com/en-us/scenario-library/human-resources/improve-onboarding-and-development-processes-copilot-studio/</a:t>
            </a:r>
          </a:p>
          <a:p>
            <a:r>
              <a:t>https://www.microsoft.com/en-us/microsoft-copilot/blog/copilot-studio/transform-hr-with-ai-powered-agents/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https://adoption.microsoft.com/en-us/ai-agents/employee-self-service-agent/</a:t>
            </a:r>
          </a:p>
          <a:p>
            <a:r>
              <a:t>https://www.microsoft.com/en-us/microsoft-copilot/blog/copilot-studio/transform-hr-with-ai-powered-agents/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https://www.zendesk.com/blog/ai/workflow-automation/ai-in-hr/</a:t>
            </a:r>
          </a:p>
          <a:p>
            <a:r>
              <a:t>https://www.ibm.com/think/topics/ai-agents-in-human-resources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https://www.ibm.com/think/topics/ai-agents-in-human-resources</a:t>
            </a:r>
          </a:p>
          <a:p>
            <a:r>
              <a:t>https://www.moveworks.com/us/en/resources/blog/agentic-ai-in-hr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https://www.pdpc.gov.sg/help-and-resources/2020/01/model-ai-governance-framework</a:t>
            </a:r>
          </a:p>
          <a:p>
            <a:r>
              <a:t>https://www.auxis.com/ai-in-hr-examples-types-use-cases-best-practices/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https://github.com/tertiarycourses/TGS-2024045795-Agentic-AI-for-HR/tree/master/activities/Activity-07-policy-qa-agent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https://github.com/tertiarycourses/TGS-2024045795-Agentic-AI-for-HR/tree/master/activities/Activity-07-policy-qa-agent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https://github.com/tertiarycourses/TGS-2024045795-Agentic-AI-for-HR/tree/master/activities/Activity-08-leave-agent-flow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https://github.com/tertiarycourses/TGS-2024045795-Agentic-AI-for-HR/tree/master/activities/Activity-08-leave-agent-flow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https://github.com/tertiarycourses/TGS-2024045795-Agentic-AI-for-HR/tree/master/activities/Activity-09-benefits-service-agent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https://github.com/tertiarycourses/TGS-2024045795-Agentic-AI-for-HR/tree/master/activities/Activity-09-benefits-service-agent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https://www.pdpc.gov.sg/help-and-resources/2020/01/model-ai-governance-framework</a:t>
            </a:r>
          </a:p>
          <a:p>
            <a:r>
              <a:t>https://www.mom.gov.sg/employment-practices/fair-consideration-framework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https://www.pdpc.gov.sg/help-and-resources/2020/01/model-ai-governance-framework</a:t>
            </a:r>
          </a:p>
          <a:p>
            <a:r>
              <a:t>https://www.strategyand.pwc.com/de/en/functions/organisational-strategy/agentic-ai-in-hr.html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Deloitte, The Future of HR, Powered by AI (user-supplied reference deck)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 Revolution in Human Resources: Transforming HR Management with Artificial Intelligence (2023 user-supplied ebook)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 Revolution in Human Resources: Transforming HR Management with Artificial Intelligence (2023 user-supplied ebook)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https://www.mom.gov.sg/employment-practices/fair-consideration-framework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https://www.pdpc.gov.sg/help-and-resources/2020/01/model-ai-governance-framework</a:t>
            </a:r>
          </a:p>
          <a:p>
            <a:r>
              <a:t>https://www.sap.com/resources/ai-for-hr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https://www.pdpc.gov.sg/help-and-resources/2020/01/model-ai-governance-framework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https://www.pdpc.gov.sg/help-and-resources/2020/01/model-ai-governance-framework</a:t>
            </a:r>
          </a:p>
          <a:p>
            <a:r>
              <a:t>https://www.microsoft.com/en-sg/microsoft-365-copilot/microsoft-copilot-studio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https://www.microsoft.com/en-sg/microsoft-365-copilot/microsoft-copilot-studio</a:t>
            </a:r>
          </a:p>
          <a:p>
            <a:r>
              <a:t>https://www.ibm.com/think/topics/ai-agents-in-human-resources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https://www.hrci.org/community/blogs-and-announcements/hr-leads-business-blog/hr-leads-business/2025/08/21/agentic-ai-in-hr</a:t>
            </a:r>
          </a:p>
          <a:p>
            <a:r>
              <a:t>https://www.strategyand.pwc.com/de/en/functions/organisational-strategy/agentic-ai-in-hr.html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https://www.mckinsey.com/capabilities/people-and-organizational-performance/our-insights/the-organization-blog/four-ways-to-start-using-generative-ai-in-hr</a:t>
            </a:r>
          </a:p>
          <a:p>
            <a:r>
              <a:t>https://www.gartner.com/en/human-resources/topics/artificial-intelligence-in-hr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https://www.gartner.com/en/human-resources/topics/artificial-intelligence-in-hr</a:t>
            </a:r>
          </a:p>
          <a:p>
            <a:r>
              <a:t>https://www.auxis.com/ai-in-hr-examples-types-use-cases-best-practices/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 Revolution in Human Resources: Transforming HR Management with Artificial Intelligence (2023 user-supplied ebook)</a:t>
            </a:r>
          </a:p>
          <a:p>
            <a:r>
              <a:t>Deloitte, The Future of HR, Powered by AI (user-supplied reference deck)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https://www.strategyand.pwc.com/de/en/functions/organisational-strategy/agentic-ai-in-hr.html</a:t>
            </a:r>
          </a:p>
          <a:p>
            <a:r>
              <a:t>https://www.auxis.com/ai-in-hr-examples-types-use-cases-best-practices/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https://github.com/tertiarycourses/TGS-2024045795-Agentic-AI-for-HR/tree/master/activities/Activity-10-workforce-wellness-insights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https://github.com/tertiarycourses/TGS-2024045795-Agentic-AI-for-HR/tree/master/activities/Activity-10-workforce-wellness-insights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https://github.com/tertiarycourses/TGS-2024045795-Agentic-AI-for-HR/tree/master/activities/Activity-11-offboarding-agent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https://github.com/tertiarycourses/TGS-2024045795-Agentic-AI-for-HR/tree/master/activities/Activity-11-offboarding-agent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https://github.com/tertiarycourses/TGS-2024045795-Agentic-AI-for-HR/tree/master/activities/Activity-12-hr-agent-control-room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https://github.com/tertiarycourses/TGS-2024045795-Agentic-AI-for-HR/tree/master/activities/Activity-12-hr-agent-control-room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https://www.mckinsey.com/capabilities/people-and-organizational-performance/our-insights/the-organization-blog/four-ways-to-start-using-generative-ai-in-hr</a:t>
            </a:r>
          </a:p>
          <a:p>
            <a:r>
              <a:t>https://www.gartner.com/en/human-resources/topics/artificial-intelligence-in-hr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8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75488"/>
            <a:ext cx="521208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WSQ • HUMAN RESOURCE DIGITALISATION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97280"/>
            <a:ext cx="5303520" cy="1463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4000" b="1">
                <a:solidFill>
                  <a:srgbClr val="0C2340"/>
                </a:solidFill>
                <a:latin typeface="Aptos"/>
              </a:rPr>
              <a:t>Agentic AI for HR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51760"/>
            <a:ext cx="4892040" cy="10972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0">
                <a:solidFill>
                  <a:srgbClr val="1C2430"/>
                </a:solidFill>
                <a:latin typeface="Aptos"/>
              </a:rPr>
              <a:t>Reduce HR administration with Copilot and governed agents—returning time to faster service, better decisions and strategic people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977639"/>
            <a:ext cx="4754880" cy="98755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69663"/>
            <a:ext cx="42976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071BC"/>
                </a:solidFill>
                <a:latin typeface="Aptos"/>
              </a:rPr>
              <a:t>TGS-2024045795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42976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2 days / 16 hours  •  HRS-HRM-4031-1.1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897880"/>
            <a:ext cx="53035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86576"/>
                </a:solidFill>
                <a:latin typeface="Aptos"/>
              </a:rPr>
              <a:t>Trainer: Dr. Alfred Ang  |  Version 6.2  |  16 August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163056"/>
            <a:ext cx="53035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Tertiary Infotech Academy Pte Ltd  |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" y="0"/>
            <a:ext cx="109728" cy="6858000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514600"/>
            <a:ext cx="82296" cy="98755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87168"/>
            <a:ext cx="34747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07792"/>
            <a:ext cx="96926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Welcome &amp; Housekeeping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Digital Attendance (Mandatory)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TRAQOM · SSG DIGITAL ATTENDANCE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52728"/>
            <a:ext cx="10881360" cy="18288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241280" cy="43891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C2430"/>
                </a:solidFill>
                <a:latin typeface="Aptos"/>
              </a:defRPr>
            </a:pPr>
            <a:r>
              <a:t>•  It is mandatory to take the AM, PM and Assessment digital attendance for WSQ-funded courses.</a:t>
            </a:r>
          </a:p>
          <a:p>
            <a:pPr>
              <a:spcAft>
                <a:spcPts val="1200"/>
              </a:spcAft>
              <a:defRPr sz="1700">
                <a:solidFill>
                  <a:srgbClr val="1C2430"/>
                </a:solidFill>
                <a:latin typeface="Aptos"/>
              </a:defRPr>
            </a:pPr>
            <a:r>
              <a:t>•  The trainer or administrator displays the digital-attendance QR code from the SSG portal.</a:t>
            </a:r>
          </a:p>
          <a:p>
            <a:pPr>
              <a:spcAft>
                <a:spcPts val="1200"/>
              </a:spcAft>
              <a:defRPr sz="1700">
                <a:solidFill>
                  <a:srgbClr val="1C2430"/>
                </a:solidFill>
                <a:latin typeface="Aptos"/>
              </a:defRPr>
            </a:pPr>
            <a:r>
              <a:t>•  Scan the QR code with your mobile phone camera and submit your attendance.</a:t>
            </a:r>
          </a:p>
          <a:p>
            <a:pPr>
              <a:spcAft>
                <a:spcPts val="1200"/>
              </a:spcAft>
              <a:defRPr sz="1700">
                <a:solidFill>
                  <a:srgbClr val="1C2430"/>
                </a:solidFill>
                <a:latin typeface="Aptos"/>
              </a:defRPr>
            </a:pPr>
            <a:r>
              <a:t>•  A minimum of 75% attendance is required to be eligible for assessment and funding.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About the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YOUR TRAINER · GENERAL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297180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2971800" cy="73152"/>
          </a:xfrm>
          <a:prstGeom prst="rect">
            <a:avLst/>
          </a:prstGeom>
          <a:solidFill>
            <a:srgbClr val="74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81328" y="1810512"/>
            <a:ext cx="1325880" cy="1325880"/>
          </a:xfrm>
          <a:prstGeom prst="ellipse">
            <a:avLst/>
          </a:prstGeom>
          <a:solidFill>
            <a:srgbClr val="74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224942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401568"/>
            <a:ext cx="2487168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0C2340"/>
                </a:solidFill>
                <a:latin typeface="Aptos"/>
              </a:rPr>
              <a:t>Your Trainer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67912"/>
            <a:ext cx="2450592" cy="7132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86576"/>
                </a:solidFill>
                <a:latin typeface="Aptos"/>
              </a:rPr>
              <a:t>General Trainer template —
to be completed by the trainer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1417320"/>
            <a:ext cx="7635240" cy="65532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86200" y="1417320"/>
            <a:ext cx="54864" cy="655320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87368" y="1527048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71BC"/>
                </a:solidFill>
                <a:latin typeface="Aptos"/>
              </a:rPr>
              <a:t>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508760"/>
            <a:ext cx="5074920" cy="50901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____________________________________________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2173224"/>
            <a:ext cx="7635240" cy="65532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86200" y="2173224"/>
            <a:ext cx="54864" cy="6553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87368" y="2282952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A6A6"/>
                </a:solidFill>
                <a:latin typeface="Aptos"/>
              </a:rPr>
              <a:t>TITLE / DESIGNATION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264664"/>
            <a:ext cx="5074920" cy="50901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____________________________________________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6200" y="2929128"/>
            <a:ext cx="7635240" cy="65532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86200" y="2929128"/>
            <a:ext cx="54864" cy="655320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87368" y="3038856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238C5C"/>
                </a:solidFill>
                <a:latin typeface="Aptos"/>
              </a:rPr>
              <a:t>QUALIFICATIONS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020568"/>
            <a:ext cx="5074920" cy="50901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____________________________________________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86200" y="3685032"/>
            <a:ext cx="7635240" cy="65532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86200" y="3685032"/>
            <a:ext cx="54864" cy="655320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87368" y="3794760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EE7E20"/>
                </a:solidFill>
                <a:latin typeface="Aptos"/>
              </a:rPr>
              <a:t>AREAS OF EXPERTISE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776472"/>
            <a:ext cx="5074920" cy="50901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____________________________________________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86200" y="4440936"/>
            <a:ext cx="7635240" cy="65532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86200" y="4440936"/>
            <a:ext cx="54864" cy="655320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87368" y="4550664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71BC"/>
                </a:solidFill>
                <a:latin typeface="Aptos"/>
              </a:rPr>
              <a:t>TRAINING &amp; INDUSTRY EXPERIENCE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532375"/>
            <a:ext cx="5074920" cy="50901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____________________________________________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86200" y="5196839"/>
            <a:ext cx="7635240" cy="65532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86200" y="5196839"/>
            <a:ext cx="54864" cy="6553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87368" y="5306567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A6A6"/>
                </a:solidFill>
                <a:latin typeface="Aptos"/>
              </a:rPr>
              <a:t>CONTACT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288279"/>
            <a:ext cx="5074920" cy="50901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____________________________________________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About the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YOUR TRAINER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297180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2971800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81328" y="1810512"/>
            <a:ext cx="1325880" cy="1325880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2249424"/>
            <a:ext cx="1325880" cy="3200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401568"/>
            <a:ext cx="2487168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0C2340"/>
                </a:solidFill>
                <a:latin typeface="Aptos"/>
              </a:rPr>
              <a:t>Dr. Alfred 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67912"/>
            <a:ext cx="2450592" cy="7132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86576"/>
                </a:solidFill>
                <a:latin typeface="Aptos"/>
              </a:rPr>
              <a:t>Principal Trainer
Tertiary Infotech Academy Pte Ltd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1417320"/>
            <a:ext cx="7635240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86200" y="1417320"/>
            <a:ext cx="54864" cy="1033271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87368" y="1527048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71BC"/>
                </a:solidFill>
                <a:latin typeface="Aptos"/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508760"/>
            <a:ext cx="5074920" cy="886967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Principal Trainer, Tertiary Infotech Academy Pte Ltd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2551176"/>
            <a:ext cx="7635240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86200" y="2551176"/>
            <a:ext cx="54864" cy="1033271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87368" y="2660904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71BC"/>
                </a:solidFill>
                <a:latin typeface="Aptos"/>
              </a:rPr>
              <a:t>BACKGROUND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642616"/>
            <a:ext cx="5074920" cy="886967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PhD · 20+ years of industry and training experience in business, technology, analytics and AI.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6200" y="3685032"/>
            <a:ext cx="7635240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86200" y="3685032"/>
            <a:ext cx="54864" cy="1033271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87368" y="3794760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71BC"/>
                </a:solidFill>
                <a:latin typeface="Aptos"/>
              </a:rPr>
              <a:t>DELIVERS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776472"/>
            <a:ext cx="5074920" cy="886967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WSQ professional development in AI transformation, data analytics and responsible adoption.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86200" y="4818888"/>
            <a:ext cx="7635240" cy="1033271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86200" y="4818888"/>
            <a:ext cx="54864" cy="1033271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87368" y="4928616"/>
            <a:ext cx="19659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71BC"/>
                </a:solidFill>
                <a:latin typeface="Aptos"/>
              </a:rPr>
              <a:t>FOUNDER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910327"/>
            <a:ext cx="5074920" cy="886967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Founder and lead instructor at Tertiary Infotech / Tertiary Courses.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Let's Know Each Other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ICE-BREAKER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52728"/>
            <a:ext cx="10881360" cy="18288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241280" cy="43891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C2430"/>
                </a:solidFill>
                <a:latin typeface="Aptos"/>
              </a:defRPr>
            </a:pPr>
            <a:r>
              <a:t>•  Your name and organisation or HR role.</a:t>
            </a:r>
          </a:p>
          <a:p>
            <a:pPr>
              <a:spcAft>
                <a:spcPts val="1200"/>
              </a:spcAft>
              <a:defRPr sz="1700">
                <a:solidFill>
                  <a:srgbClr val="1C2430"/>
                </a:solidFill>
                <a:latin typeface="Aptos"/>
              </a:defRPr>
            </a:pPr>
            <a:r>
              <a:t>•  Your experience with Microsoft 365 Copilot, Copilot Studio or HR automation, if any.</a:t>
            </a:r>
          </a:p>
          <a:p>
            <a:pPr>
              <a:spcAft>
                <a:spcPts val="1200"/>
              </a:spcAft>
              <a:defRPr sz="1700">
                <a:solidFill>
                  <a:srgbClr val="1C2430"/>
                </a:solidFill>
                <a:latin typeface="Aptos"/>
              </a:defRPr>
            </a:pPr>
            <a:r>
              <a:t>•  One HR process you would like to improve with generative or agentic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Ground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HOUSEKEEPING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44752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73152" cy="1143000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83664"/>
            <a:ext cx="4572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1056" y="1719072"/>
            <a:ext cx="3886200" cy="5943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Set your mobile phone to silent mode.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5" y="1444752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63055" y="1444752"/>
            <a:ext cx="73152" cy="1143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19088" y="1783080"/>
            <a:ext cx="457200" cy="4572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883664"/>
            <a:ext cx="4572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95744" y="1719072"/>
            <a:ext cx="3886200" cy="5943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Participate actively — no question is too small.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92608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2926080"/>
            <a:ext cx="73152" cy="1143000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264408"/>
            <a:ext cx="457200" cy="457200"/>
          </a:xfrm>
          <a:prstGeom prst="ellipse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364992"/>
            <a:ext cx="4572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1056" y="3200400"/>
            <a:ext cx="3886200" cy="5943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Mutual respect: agree to disagree.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5" y="2926080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5" y="2926080"/>
            <a:ext cx="73152" cy="1143000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19088" y="3264408"/>
            <a:ext cx="457200" cy="457200"/>
          </a:xfrm>
          <a:prstGeom prst="ellipse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364992"/>
            <a:ext cx="4572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95744" y="3200400"/>
            <a:ext cx="3886200" cy="5943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One conversation at a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407408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4407408"/>
            <a:ext cx="73152" cy="1143000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4745736"/>
            <a:ext cx="457200" cy="457200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846320"/>
            <a:ext cx="4572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91056" y="4681728"/>
            <a:ext cx="3886200" cy="5943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Be punctual; return from breaks on time.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63055" y="4407408"/>
            <a:ext cx="5212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3055" y="4407408"/>
            <a:ext cx="73152" cy="1143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19088" y="4745736"/>
            <a:ext cx="457200" cy="4572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846320"/>
            <a:ext cx="4572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95744" y="4681728"/>
            <a:ext cx="3886200" cy="5943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Use synthetic data only; protect personal information.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Download Course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COURSE PORTAL · LMS/TMS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5715000" cy="429768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1673352"/>
            <a:ext cx="521208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755648"/>
            <a:ext cx="484632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71BC"/>
                </a:solidFill>
                <a:latin typeface="Aptos"/>
              </a:rPr>
              <a:t>https://lms-tms.tertiaryinfotech.com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21992"/>
            <a:ext cx="507492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Agentic AI for HR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79192"/>
            <a:ext cx="50749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798064"/>
            <a:ext cx="4663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Trainer Slides (PDF)  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00984"/>
            <a:ext cx="50749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419856"/>
            <a:ext cx="4663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Learner Guide (PDF)  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922776"/>
            <a:ext cx="50749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041648"/>
            <a:ext cx="4663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Activity Files  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544568"/>
            <a:ext cx="50749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663440"/>
            <a:ext cx="4663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Aptos"/>
              </a:rPr>
              <a:t>Assessment Submission  ↗</a:t>
            </a:r>
          </a:p>
        </p:txBody>
      </p:sp>
      <p:sp>
        <p:nvSpPr>
          <p:cNvPr id="17" name="Oval 16"/>
          <p:cNvSpPr/>
          <p:nvPr/>
        </p:nvSpPr>
        <p:spPr>
          <a:xfrm>
            <a:off x="6720840" y="1536192"/>
            <a:ext cx="438912" cy="438912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636776"/>
            <a:ext cx="438912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1444752"/>
            <a:ext cx="38862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Sign 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1755648"/>
            <a:ext cx="38862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Use your registered email and OTP or password.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2596896"/>
            <a:ext cx="438912" cy="43891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697480"/>
            <a:ext cx="438912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505456"/>
            <a:ext cx="38862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Open your course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816352"/>
            <a:ext cx="38862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Select Agentic AI for HR under My Courses.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3657600"/>
            <a:ext cx="438912" cy="438912"/>
          </a:xfrm>
          <a:prstGeom prst="ellipse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3758184"/>
            <a:ext cx="438912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3566160"/>
            <a:ext cx="38862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Download materials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3877056"/>
            <a:ext cx="38862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Keep the slides and Learner Guide for open-book assessment.</a:t>
            </a:r>
          </a:p>
        </p:txBody>
      </p:sp>
      <p:sp>
        <p:nvSpPr>
          <p:cNvPr id="29" name="Oval 28"/>
          <p:cNvSpPr/>
          <p:nvPr/>
        </p:nvSpPr>
        <p:spPr>
          <a:xfrm>
            <a:off x="6720840" y="4718303"/>
            <a:ext cx="438912" cy="438912"/>
          </a:xfrm>
          <a:prstGeom prst="ellipse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4818888"/>
            <a:ext cx="438912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4626864"/>
            <a:ext cx="38862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Submit 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4937759"/>
            <a:ext cx="38862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Upload assessment answers and complete required attendance.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Your HR AI Workbench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COURSE TOOLS · ALL 12 ACTIVITIES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5715000" cy="429768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52120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71BC"/>
                </a:solidFill>
                <a:latin typeface="Aptos"/>
              </a:rPr>
              <a:t>GENERATIVE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48256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12848"/>
            <a:ext cx="46177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Microsoft 365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52120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38C5C"/>
                </a:solidFill>
                <a:latin typeface="Aptos"/>
              </a:rPr>
              <a:t>AGENTIC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46704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639312"/>
            <a:ext cx="2057400" cy="5943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Agent Builder in
Microsoft 365 Copilot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3346704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3639312"/>
            <a:ext cx="2057400" cy="5943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C2340"/>
                </a:solidFill>
                <a:latin typeface="Aptos"/>
              </a:rPr>
              <a:t>Microsoft
Copilot Studio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56048"/>
            <a:ext cx="507492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86576"/>
                </a:solidFill>
                <a:latin typeface="Aptos"/>
              </a:rPr>
              <a:t>Create with Copilot · orchestrate with agents · govern with human review</a:t>
            </a:r>
          </a:p>
        </p:txBody>
      </p:sp>
      <p:sp>
        <p:nvSpPr>
          <p:cNvPr id="15" name="Oval 14"/>
          <p:cNvSpPr/>
          <p:nvPr/>
        </p:nvSpPr>
        <p:spPr>
          <a:xfrm>
            <a:off x="6720840" y="1536192"/>
            <a:ext cx="438912" cy="438912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636776"/>
            <a:ext cx="438912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1444752"/>
            <a:ext cx="38862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Use synthetic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1755648"/>
            <a:ext cx="38862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Start from the supplied activity records.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2596896"/>
            <a:ext cx="438912" cy="43891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697480"/>
            <a:ext cx="438912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505456"/>
            <a:ext cx="38862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Create or analyse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816352"/>
            <a:ext cx="38862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Use Microsoft 365 Copilot with approved context.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3657600"/>
            <a:ext cx="438912" cy="438912"/>
          </a:xfrm>
          <a:prstGeom prst="ellipse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758184"/>
            <a:ext cx="438912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566160"/>
            <a:ext cx="38862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Build bounded 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877056"/>
            <a:ext cx="38862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Use Agent Builder or Copilot Studio for governed workflows.</a:t>
            </a:r>
          </a:p>
        </p:txBody>
      </p:sp>
      <p:sp>
        <p:nvSpPr>
          <p:cNvPr id="27" name="Oval 26"/>
          <p:cNvSpPr/>
          <p:nvPr/>
        </p:nvSpPr>
        <p:spPr>
          <a:xfrm>
            <a:off x="6720840" y="4718303"/>
            <a:ext cx="438912" cy="438912"/>
          </a:xfrm>
          <a:prstGeom prst="ellipse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818888"/>
            <a:ext cx="438912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626864"/>
            <a:ext cx="38862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Test and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4937759"/>
            <a:ext cx="38862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Save prompts, checks, revisions and human approvals.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Lesson Plan — 2 Days, 9:00am–6:00pm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SCHEDULE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63040"/>
            <a:ext cx="5212080" cy="41605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5212080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461772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DAY 1 · FRAME &amp; GENERATE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2240280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2176272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Welcome, pain points and assessment briefing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843784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2779776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Unit 1 · From Generative AI to Agentic HR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3447288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3383280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Activities 1–3 · Talent need, JD and resume screening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7" y="4050791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3986783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Unit 2 · Microsoft 365 Copilot across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7" y="4654296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4590288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Aptos"/>
              </a:rPr>
              <a:t>Activities 4–6 · Interview, onboarding and development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5" y="1463040"/>
            <a:ext cx="5212080" cy="41605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5" y="1463040"/>
            <a:ext cx="5212080" cy="7315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5" y="1719072"/>
            <a:ext cx="461772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DAY 2 · ORCHESTRATE &amp; GOVERN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5" y="2240280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3" y="2176272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Retrieval practice and Unit 3 · Governed HR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5" y="2843784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3" y="2779776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Activities 7–9 · Policy, leave and benefits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5" y="3447288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1423" y="3383280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Unit 4 · Responsible adoption and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3095" y="4050791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21423" y="3986783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2340"/>
                </a:solidFill>
                <a:latin typeface="Aptos"/>
              </a:rPr>
              <a:t>Activities 10–12 · Wellness, offboarding and control 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5" y="4654296"/>
            <a:ext cx="320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3" y="4590288"/>
            <a:ext cx="416052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Aptos"/>
              </a:rPr>
              <a:t>4:00–6:00pm · WA then Case Study Assessment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Skills Framework — Human Resource Digitalisation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WSQ ALIGNMENT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10835640" cy="502920"/>
          </a:xfrm>
          <a:prstGeom prst="round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618488"/>
            <a:ext cx="228600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TSC element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618488"/>
            <a:ext cx="7498079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Detail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48256"/>
            <a:ext cx="10835640" cy="694944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249424"/>
            <a:ext cx="23774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Aptos"/>
              </a:rPr>
              <a:t>TSC Title /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212848"/>
            <a:ext cx="7498079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C2430"/>
                </a:solidFill>
                <a:latin typeface="Aptos"/>
              </a:rPr>
              <a:t>Human Resource Digitalisation-4 (HRS-HRM-4031-1.1)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889504"/>
            <a:ext cx="1083564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090672"/>
            <a:ext cx="23774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Aptos"/>
              </a:rPr>
              <a:t>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054096"/>
            <a:ext cx="7498079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C2430"/>
                </a:solidFill>
                <a:latin typeface="Aptos"/>
              </a:rPr>
              <a:t>Generative AI, agentic AI and HR digitalisation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730752"/>
            <a:ext cx="10835640" cy="694944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931920"/>
            <a:ext cx="23774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Aptos"/>
              </a:rPr>
              <a:t>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895344"/>
            <a:ext cx="7498079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C2430"/>
                </a:solidFill>
                <a:latin typeface="Aptos"/>
              </a:rPr>
              <a:t>Use-case analysis, feasibility, agent design and responsible controls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572000"/>
            <a:ext cx="1083564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773168"/>
            <a:ext cx="23774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C2340"/>
                </a:solidFill>
                <a:latin typeface="Aptos"/>
              </a:rP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736592"/>
            <a:ext cx="7498079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C2430"/>
                </a:solidFill>
                <a:latin typeface="Aptos"/>
              </a:rPr>
              <a:t>Prompts, outputs, checks, decisions and 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96128"/>
            <a:ext cx="1060704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86576"/>
                </a:solidFill>
                <a:latin typeface="Aptos"/>
              </a:rPr>
              <a:t>Every unit, activity and assessment item maps to this TSC through observable evidence.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BY THE END OF THIS COURSE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108356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591056"/>
            <a:ext cx="457200" cy="457200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91640"/>
            <a:ext cx="457200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563624"/>
            <a:ext cx="5029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LO1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536192"/>
            <a:ext cx="8915400" cy="4754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Compare how generative and agentic AI reshape HR operating models versus conventional HR delivery.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96312"/>
            <a:ext cx="108356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2670048"/>
            <a:ext cx="457200" cy="4572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770632"/>
            <a:ext cx="457200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642616"/>
            <a:ext cx="5029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LO2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615184"/>
            <a:ext cx="8915400" cy="4754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Analyse where Microsoft 365 Copilot and AI agents can improve end-to-end HR processes and employee experience.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575304"/>
            <a:ext cx="108356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" y="3749040"/>
            <a:ext cx="457200" cy="457200"/>
          </a:xfrm>
          <a:prstGeom prst="ellipse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849624"/>
            <a:ext cx="457200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721608"/>
            <a:ext cx="5029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LO3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694176"/>
            <a:ext cx="8915400" cy="4754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Conduct feasibility analysis and design a governed implementation for an HR generative-AI or agentic-AI use case.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654296"/>
            <a:ext cx="108356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8" y="4828032"/>
            <a:ext cx="457200" cy="457200"/>
          </a:xfrm>
          <a:prstGeom prst="ellipse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928616"/>
            <a:ext cx="457200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800600"/>
            <a:ext cx="5029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LO4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4773168"/>
            <a:ext cx="8915400" cy="47548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Apply legal, ethical, privacy, security, fairness and human-oversight controls to AI-enabled HR work.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Course Outline — Four Learning 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44752"/>
            <a:ext cx="5212080" cy="1755648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5212080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50292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627632"/>
            <a:ext cx="3977639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From Generative AI to Agentic HR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267712"/>
            <a:ext cx="3977639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Choose the lightest capability that safely solves the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5" y="1444752"/>
            <a:ext cx="5212080" cy="1755648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63055" y="1444752"/>
            <a:ext cx="5212080" cy="7315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64208"/>
            <a:ext cx="50292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0A6A6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77455" y="1627632"/>
            <a:ext cx="3977639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Microsoft 365 Copilot Across the HR Lifecycle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7455" y="2267712"/>
            <a:ext cx="3977639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Generate and analyse with a human in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566160"/>
            <a:ext cx="5212080" cy="1755648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566160"/>
            <a:ext cx="5212080" cy="7315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85615"/>
            <a:ext cx="50292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749039"/>
            <a:ext cx="3977639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Build Governed HR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389120"/>
            <a:ext cx="3977639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Agent Builder for knowledge; Copilot Studio for orchestration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5" y="3566160"/>
            <a:ext cx="5212080" cy="1755648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5" y="3566160"/>
            <a:ext cx="5212080" cy="7315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785615"/>
            <a:ext cx="50292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7455" y="3749039"/>
            <a:ext cx="3977639" cy="5303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Responsible Adoption and HR Transformation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7455" y="4389120"/>
            <a:ext cx="3977639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Govern decisions, data, people and agent 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C43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Briefing for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READINESS · PRACTICE · CONFIDENTIALITY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6537960" cy="448056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19072"/>
            <a:ext cx="594360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4363E"/>
                </a:solidFill>
                <a:latin typeface="Aptos"/>
              </a:rPr>
              <a:t>ASSESSMENT READINESS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76272"/>
            <a:ext cx="5989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77440"/>
            <a:ext cx="45720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313432"/>
            <a:ext cx="19659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Know the instruments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2295144"/>
            <a:ext cx="2880360" cy="49377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Written Assessment and Case Study; 60 minutes each; open book.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5989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01568"/>
            <a:ext cx="45720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5648" y="3337560"/>
            <a:ext cx="19659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Protect the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3319272"/>
            <a:ext cx="2880360" cy="49377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Work individually. Do not photograph, record, discuss or share assessment content.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24528"/>
            <a:ext cx="5989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425696"/>
            <a:ext cx="45720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4363E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4361688"/>
            <a:ext cx="19659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Submit complete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7" y="4343400"/>
            <a:ext cx="2880360" cy="49377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86576"/>
                </a:solidFill>
                <a:latin typeface="Aptos"/>
              </a:rPr>
              <a:t>Answer every part, protect personal data and follow the assessor's LMS instructions.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61504" y="1417320"/>
            <a:ext cx="4041648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1737360"/>
            <a:ext cx="3401568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PRACTICE EXAM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240280"/>
            <a:ext cx="324612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C2340"/>
                </a:solidFill>
                <a:latin typeface="Aptos"/>
              </a:rPr>
              <a:t>Build confidence before assessment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3172968"/>
            <a:ext cx="3401568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18704" y="3364992"/>
            <a:ext cx="3108960" cy="2468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exams.tertiaryinfotech.com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187952"/>
            <a:ext cx="324612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86576"/>
                </a:solidFill>
                <a:latin typeface="Aptos"/>
              </a:rPr>
              <a:t>Use the practice platform only for preparation. The actual WSQ assessment remains on the LMS and follows the assessor's instructions.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5330952"/>
            <a:ext cx="324612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C4363E"/>
                </a:solidFill>
                <a:latin typeface="Aptos"/>
              </a:rPr>
              <a:t>Practice does not replace the official assessment.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C43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FINAL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52728"/>
            <a:ext cx="10881360" cy="18288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241280" cy="43891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C2430"/>
                </a:solidFill>
                <a:latin typeface="Aptos"/>
              </a:defRPr>
            </a:pPr>
            <a:r>
              <a:t>•  Written Assessment — five open-response questions mapped to K1–K5, 60 minutes, open book.</a:t>
            </a:r>
          </a:p>
          <a:p>
            <a:pPr>
              <a:spcAft>
                <a:spcPts val="1200"/>
              </a:spcAft>
              <a:defRPr sz="1700">
                <a:solidFill>
                  <a:srgbClr val="1C2430"/>
                </a:solidFill>
                <a:latin typeface="Aptos"/>
              </a:defRPr>
            </a:pPr>
            <a:r>
              <a:t>•  Case Study Assessment — five applied questions mapped to A1–A5, 60 minutes, open book.</a:t>
            </a:r>
          </a:p>
          <a:p>
            <a:pPr>
              <a:spcAft>
                <a:spcPts val="1200"/>
              </a:spcAft>
              <a:defRPr sz="1700">
                <a:solidFill>
                  <a:srgbClr val="1C2430"/>
                </a:solidFill>
                <a:latin typeface="Aptos"/>
              </a:defRPr>
            </a:pPr>
            <a:r>
              <a:t>•  Take the Assessment digital attendance and submit answers on the LMS.</a:t>
            </a:r>
          </a:p>
          <a:p>
            <a:pPr>
              <a:spcAft>
                <a:spcPts val="1200"/>
              </a:spcAft>
              <a:defRPr sz="1700">
                <a:solidFill>
                  <a:srgbClr val="1C2430"/>
                </a:solidFill>
                <a:latin typeface="Aptos"/>
              </a:defRPr>
            </a:pPr>
            <a:r>
              <a:t>•  At least 75% attendance and a Competent result are required for funding eligibility.</a:t>
            </a:r>
          </a:p>
          <a:p>
            <a:pPr>
              <a:spcAft>
                <a:spcPts val="1200"/>
              </a:spcAft>
              <a:defRPr sz="1700">
                <a:solidFill>
                  <a:srgbClr val="1C2430"/>
                </a:solidFill>
                <a:latin typeface="Aptos"/>
              </a:defRPr>
            </a:pPr>
            <a:r>
              <a:t>•  An appeal process is available if you disagree with the assessment outcome.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Assessment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ON ASSESSMENT 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1874519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874519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16736" y="1993392"/>
            <a:ext cx="566928" cy="566928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6736" y="2148840"/>
            <a:ext cx="56692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971800"/>
            <a:ext cx="1545336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TRAQOM survey
on the 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788920"/>
            <a:ext cx="310896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71BC"/>
                </a:solidFill>
                <a:latin typeface="Aptos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572768"/>
            <a:ext cx="1874519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0360" y="1572768"/>
            <a:ext cx="1874519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38728" y="1993392"/>
            <a:ext cx="566928" cy="566928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2148840"/>
            <a:ext cx="56692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2971800"/>
            <a:ext cx="1545336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Assessment digital
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788920"/>
            <a:ext cx="310896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71BC"/>
                </a:solidFill>
                <a:latin typeface="Aptos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2352" y="1572768"/>
            <a:ext cx="1874519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572768"/>
            <a:ext cx="1874519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0" y="1993392"/>
            <a:ext cx="566928" cy="566928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148840"/>
            <a:ext cx="56692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4" y="2971800"/>
            <a:ext cx="1545336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Sit WA then
Case Study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4304" y="2788920"/>
            <a:ext cx="310896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71BC"/>
                </a:solidFill>
                <a:latin typeface="Aptos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24344" y="1572768"/>
            <a:ext cx="1874519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4344" y="1572768"/>
            <a:ext cx="1874519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82712" y="1993392"/>
            <a:ext cx="566928" cy="566928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82712" y="2148840"/>
            <a:ext cx="56692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8936" y="2971800"/>
            <a:ext cx="1545336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Submit answers
on the LMS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788920"/>
            <a:ext cx="310896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71BC"/>
                </a:solidFill>
                <a:latin typeface="Aptos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46336" y="1572768"/>
            <a:ext cx="1874519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46336" y="1572768"/>
            <a:ext cx="1874519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04704" y="1993392"/>
            <a:ext cx="566928" cy="566928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04704" y="2148840"/>
            <a:ext cx="56692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0928" y="2971800"/>
            <a:ext cx="1545336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Sign Assessment
Summary Record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58368"/>
            <a:ext cx="18288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LEARNING UNIT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515600" cy="10972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3800" b="1">
                <a:solidFill>
                  <a:srgbClr val="0C2340"/>
                </a:solidFill>
                <a:latin typeface="Aptos"/>
              </a:rPr>
              <a:t>From Generative AI to Agentic HR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98755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0">
                <a:solidFill>
                  <a:srgbClr val="586576"/>
                </a:solidFill>
                <a:latin typeface="Aptos"/>
              </a:rPr>
              <a:t>Choose the lightest capability that safely solves the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160520"/>
            <a:ext cx="2423160" cy="658368"/>
          </a:xfrm>
          <a:prstGeom prst="roundRect">
            <a:avLst/>
          </a:prstGeom>
          <a:solidFill>
            <a:srgbClr val="0071BC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FRAME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728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GENERATE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ORCHESTRATE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5080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224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GOVERN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715000"/>
            <a:ext cx="987552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Concepts → evidence → activity → reflection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Today's HR operating pain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Fragmented channels and repeated hand-offs trap HR capacity in administration.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Requests arrive through email, forms and chat with no shared case 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HR rekeys the same data across trackers, documents and systems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Employees and managers wait for inconsistent answers and approvals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Evidence, ownership and exceptions are difficult to trace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The strategic case for HR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Automate routine work so HR can deliver faster service and more strategic value.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Reduce administrative work and avoidable rekeying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Improve productivity, efficiency and response consistency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Return capacity to workforce strategy, coaching and employee 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human-AI partnerships to connect the people agenda to business 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Why now: the people and AI agendas converge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HR must build internal capability while helping the enterprise navigate AI disruption.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79% of surveyed leaders expected GenAI to substantially transform their organisation or industry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72% expected GenAI to change talent strategies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Only 23% reported GenAI investment in HR in the cited study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81% said business and people agendas had never been more intertwined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The HR AI continuum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Automation follows rules; copilots create; agents pursue bounded goals.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Rules automate predictable hand-offs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Microsoft 365 Copilot drafts, summarises and analyses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Agents reason, plan, use tools and 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Humans retain accountability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Four shifts in HR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AI value moves from efficiency to new human and enterprise value.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Automate: eliminate repetitive work about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Augment: support people to improve productivity and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Extend: analyse and personalise at a scale humans cannot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Create: design, test and operate new AI-enabled HR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HR's own AI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HR moves incrementally from AI-assisted to AI-augmented and AI-powered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AI-assisted: humans own the work with moderate AI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AI-augmented: people and AI collaborate with frequent hand-offs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AI-powered: AI handles bounded work while people monitor and improve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Fully autonomous HR remains rare; human accountability endures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Conventional HR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Queues and hand-offs make service slow and opaque.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Queues and hand-offs make service slow and opaque.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Requests arrive through email and forms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Specialists search systems manually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Approvals cross organisational boundaries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Evidence is scattered across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Copilot-assisted HR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human remains the operator while Copilot accelerates knowledge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Ground prompts in approved work content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Generate a first draft, not a final 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Compare and refine with domain expertise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Record source and reviewer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Agent-enabled HR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An agent can coordinate a bounded workflow across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Interpret an employee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Retrieve policy and contextual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Call approved tools and 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Escalate exceptions with an 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Assistant, agent or workflow?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the simplest lever that meets the outcome and risk profile.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Copilot: create or analyse with a person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Agent: converse, reason and orchestrate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Flow: deterministic transaction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Hybrid: agent front door plus governed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The Microsoft HR AI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Microsoft 365 Copilot and Copilot Studio play different but complementary roles.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Microsoft 365 Copilot and Copilot Studio play different but complementary roles.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Word and Outlook: content and communication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Excel: evidence and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Teams and SharePoint: collaboration and knowledge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Copilot Studio: agents, tools, flows and channels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AI-powered HR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An AI and data core needs strategy, product, engineering, insight and people-operations capabilities around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An AI and data core needs strategy, product, engineering, insight and people-operations capabilities around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HR strategy, governance and portfolio management set value and risk priorities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Workforce solution architects and an innovation hub design human-centred services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Solution DevOps and sustainment operate agents, integrations and controls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People operations and workforce engagement keep employee outcomes visible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Agent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Reliable agents need a goal, knowledge, instructions, tools, boundaries and tests.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Goal defines the employee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Knowledge constrains grounded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Instructions set behaviour and refusal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Tools act; tests prove expected behaviour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HR lifecycle opportunity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AI value appears across attract, join, grow, serve and exit.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Attract: workforce planning and recruitment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Join: onboarding and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Grow: performance, learning and mobility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Serve and exit: policy, leave, cases and offboarding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Value without losing the human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Saved time should be redirected to judgement, coaching and care.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007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Saved time should be redirected to judgement, coaching and care.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Reduce repetitive search and drafting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Improve access and consistency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Create capacity for human conversations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Do not automate empathy or accountability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Use-case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Start with frequent, bounded and measurable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High volume and clear policy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Reliable knowledge and integrations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Reversible actions and escalation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 KPI baseline and accountable 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Feasibility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good idea is not yet a deployable use case.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Business value and employee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Data readiness and permissions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Technical reach and failure modes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71B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71B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Risk, change and operating ownership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From pilot to operating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pilot must prove usefulness, control and adoption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Define baseline and success threshold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Use synthetic data before live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Test normal, edge and adversarial cases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71B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Assign monitoring, review and retirement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1: Assess Talent Needs with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Microsoft 365 Copilot to turn operational evidence into a transparent hire, redeploy or develop recommendation.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HarbourLight Logistics SG is opening a digitally enabled distribution hub. HR receives demand forecasts, overtime data, vacancy history and a skills inventory in separate files, so workforce decisions are slow and reactive.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Excel with Microsoft 365 Copilot
• Teams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Talent-demand evidence map
• Skills-gap analysis
• Hire-redeploy-develop recommendation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Cite the supplied cells and records
• Separate fact from forecast
• Business and HR owners approve the demand hypothesis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activity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1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2340"/>
                </a:solidFill>
                <a:latin typeface="Aptos"/>
              </a:rPr>
              <a:t>Activity 2: Draft an Inclusive Job Description with Generative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Word Copilot to draft a skills-based, inclusive and approval-ready job description grounded in the approved talent need.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Activity 1 established a need for a Workforce Operations Analyst. The old JD is task-heavy, contains copied requirements and does not reflect the outcomes or skills needed at the new 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Word with Microsoft 365 Copilot
• Excel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Role-outcome map
• Inclusive job description
• Hiring-manager validation checklist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Use job-related criteria only
• Distinguish essential from trainable skills
• Hiring manager and HR approve every requirement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activity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2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2340"/>
                </a:solidFill>
                <a:latin typeface="Aptos"/>
              </a:rPr>
              <a:t>Activity 3: Screen Resumes with a Fair Evidence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Microsoft 365 Copilot to extract job-related evidence at speed while keeping shortlist decisions human, traceable and reviewable.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Six synthetic candidates apply for the Workforce Operations Analyst role from Activity 2. Recruiters currently scan resumes inconsistently and retype evidence into spreadsheets.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Excel with Microsoft 365 Copilot
• Word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Candidate evidence matrix
• Uncertainty and bias log
• Human shortlist rationale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71BC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Synthetic resumes only
• Protected attributes and proxies excluded
• AI may organise evidence but cannot reject a candidate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activity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3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71BC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Unit 1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Connect concept, evidence and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Key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Choose the lightest capability that safely solves the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would make the recommendation reviewable?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Human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Who remains accountable?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Next move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will you test or change?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58368"/>
            <a:ext cx="18288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LEARNING UNIT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515600" cy="10972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3800" b="1">
                <a:solidFill>
                  <a:srgbClr val="0C2340"/>
                </a:solidFill>
                <a:latin typeface="Aptos"/>
              </a:rPr>
              <a:t>Microsoft 365 Copilot Across the HR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98755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0">
                <a:solidFill>
                  <a:srgbClr val="586576"/>
                </a:solidFill>
                <a:latin typeface="Aptos"/>
              </a:rPr>
              <a:t>Generate and analyse with a human in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FRAME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4160520"/>
            <a:ext cx="2423160" cy="658368"/>
          </a:xfrm>
          <a:prstGeom prst="round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728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GENERATE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ORCHESTRATE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5080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224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GOVERN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715000"/>
            <a:ext cx="987552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Concepts → evidence → activity → reflection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 grounded prompt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Context plus task plus constraints plus evidence produces reviewable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Role and business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Specific task and desired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Approved sources and boundaries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Output format and verification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Workforce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Copilot can turn fragmented evidence into an explainable workforce hypothesis.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Summarise demand signals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Identify capability gaps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Draft role and capacity options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Keep assumptions visible for 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Job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Better job descriptions start with outcomes and skills, not copied history.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Better job descriptions start with outcomes and skills, not copied history.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Translate business need into outcomes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Separate essential from trainable skills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Use inclusive, job-related language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Validate with hiring manager and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Recruitment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Copilot can adapt one approved proposition across channels without changing facts.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Candidate persona and value proposition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Channel-specific message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Consistent salary and requirements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Human approval before publication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Resume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AI should organise job-related evidence—not make an opaque hiring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Build a disclosed scoring rubric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Extract evidence, uncertainty and gaps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Blind protected attributes where feasible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A human reviews every shortlist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Structured interviewing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shared evidence model improves consistency more than clever questions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Behavioural questions tied to outcomes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Anchored scoring guide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Independent notes before consensus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Candidate accessibility and fairness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Candidate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Copilot can make communication timely, consistent and humane.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Copilot can make communication timely, consistent and humane.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Personalise only from approved facts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Avoid inferred sensitive attributes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Give realistic next steps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Review tone, accuracy and confidentiality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Policy drafting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Copilot accelerates comparison and drafting; policy owners approve meaning.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Ground in current policy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Surface conflicts and missing definitions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Use plain-language examples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Preserve version, approver and effective 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personalised journey connects role, people, policy, systems and learning.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Prepare a role-specific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Summarise must-know policies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Identify collaboration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Track access, milestones and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Personalisation across the employee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AI can tailor support when personalisation is grounded, explainable and correctable.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Onboarding adapts approved tasks to role and location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Learning recommendations connect evidenced gaps to approved resources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Internal mobility surfaces explainable options rather than deterministic rankings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Employee-service agents answer routine questions and escalate personal exceptions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Predictive talent analytics with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Forecasts should guide questions and planning, not make hidden decisions about people.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Anticipate staffing needs from demand and skills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Identify organisational retention and capability 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Test data quality, proxies, drift and uncertainty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Keep high-potential, performance and wellbeing decisions human and contestable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Performance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Copilot can organise evidence and coaching preparation without replacing the conversation.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Summarise agreed goals and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Separate observation from inference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Draft balanced coaching questions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Manager validates before discussion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Learning and internal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Skills intelligence becomes useful when employees can challenge and update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Map role outcomes to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Recommend explainable learning 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Support career conversations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Avoid deterministic potential scores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Engagement and workforce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Patterns guide questions; they do not diagnose individuals.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Aggregate data to protect privacy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Triangulate survey, service and retention signals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Show uncertainty and limitations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Convert insight into a human-led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2340"/>
                </a:solidFill>
                <a:latin typeface="Aptos"/>
              </a:rPr>
              <a:t>Activity 4: Prepare and Review Structured Interviews 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Copilot to prepare job-related structured questions, organise synthetic interview notes and support a human panel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The recruiter shortlisted three candidates in Activity 3. Managers currently improvise interview questions, take incomplete notes and struggle to compare evidence consistently.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Word and Teams with Microsoft 365 Copilot
• Excel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Structured interview guide
• Anchored panel scorecard
• Candidate communication pack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Same core questions for every candidate
• No emotion or personality inference
• Panel members score independently before consensus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activity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4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5: Automate Onboarding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Design a Copilot Studio onboarding agent that coordinates routine work while retaining accountable task owners and human confirmation.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A selected synthetic candidate joins HarbourLight as the Workforce Operations Analyst. Equipment, access, safety training and manager check-ins are currently coordinated through emails and spreadsheets, causing missed tasks and repeated follow-up.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Microsoft Copilot Studio
• Teams
• SharePoint
• Power Automate or agent flows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30-day journey
• Agent conversation and tool map
• Onboarding test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Use approved role and policy data
• Least-privilege connectors
• A human owner confirms every completion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activity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5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2340"/>
                </a:solidFill>
                <a:latin typeface="Aptos"/>
              </a:rPr>
              <a:t>Activity 6: Create a Personalised Talent Development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Copilot and a bounded development agent to identify evidence-based skill gaps, prepare learning options and automate routine follow-up.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After onboarding, the new analyst and two existing employees need different development pathways. HR currently assembles courses manually and managers lack a consistent skills-conversation 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Microsoft 365 Copilot in Word and Teams
• Agent Builder in Microsoft 365 Copilot
• Excel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Skills evidence summary
• 90-day development plan
• Development-agent instructions and 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Employee can correct the skills record
• No deterministic potential ranking
• Manager and employee choose the final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activity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6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Unit 2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Connect concept, evidence and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A6A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Key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Generate and analyse with a human in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A6A6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would make the recommendation reviewable?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A6A6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Human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Who remains accountable?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A6A6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Next move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will you test or change?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58368"/>
            <a:ext cx="18288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LEARNING UNIT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515600" cy="10972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3800" b="1">
                <a:solidFill>
                  <a:srgbClr val="0C2340"/>
                </a:solidFill>
                <a:latin typeface="Aptos"/>
              </a:rPr>
              <a:t>Build Governed HR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98755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0">
                <a:solidFill>
                  <a:srgbClr val="586576"/>
                </a:solidFill>
                <a:latin typeface="Aptos"/>
              </a:rPr>
              <a:t>Agent Builder for knowledge; Copilot Studio for orchestration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FRAME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728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GENERATE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4160520"/>
            <a:ext cx="2423160" cy="658368"/>
          </a:xfrm>
          <a:prstGeom prst="roundRect">
            <a:avLst/>
          </a:prstGeom>
          <a:solidFill>
            <a:srgbClr val="238C5C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ORCHESTRATE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5080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224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GOVERN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715000"/>
            <a:ext cx="987552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Concepts → evidence → activity → reflection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Choose the build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Agent Builder is fast for team knowledge; Copilot Studio supports broader orchestration.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Agent Builder: focused Q&amp;A and team productivity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Copilot Studio: tools, flows, channels and 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Copy an agent to extend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Licensing and governance remain design constraints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Agent Builder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useful team agent has a narrow purpose and authoritative knowledge.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Name the audience and task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Ground in selected SharePoint 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Add response and refusal instructions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Share only with intended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Copilot Studio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An enterprise agent separates conversation, reasoning and transaction.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An enterprise agent separates conversation, reasoning and transaction.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Topic or generative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Approved knowledge 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Actions and connectors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Authentication, analytics and ALM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Integrate with the HR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Agents become useful when identity, HRIS data, workflows and monitoring are deliberately connected.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HRIS and policy repositories remain authoritative systems of record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Identity and permissions restrict personal data and transactions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Connectors and APIs expose only bounded, validated 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Logging, fallback and human support make failures recoverable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Knowledge grounding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answer should be traceable to the current approved source.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Curate source ownership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Remove obsolete duplicates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Respect permissions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Return citation, effective date and escalation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Instructions and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Agent instructions are an operating policy, not marketing copy.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Define in-scope intents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State prohibited 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Specify clarification and escalation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Require confirmation before consequential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Tools and agent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Tools convert a conversation into work; flows make critical actions deterministic.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Tools convert a conversation into work; flows make critical actions deterministic.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Use least-privilege connectors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Validate inputs before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Add human approval for consequential steps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Write outcome and error to an audit 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HR policy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 policy agent should answer, cite, qualify and escalate.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Recognise the employee intent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Retrieve the exact current clause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Explain in plain language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Escalate ambiguity or personal exceptions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Onboarding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An onboarding agent coordinates milestones without inventing employment commitments.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Personalise from approved role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Trigger task owners and reminders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Track exceptions and access blockers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Route sensitive questions to HR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Leave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agent gathers intent; a governed workflow validates and records the request.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Check balance and policy eligibility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Confirm dates and coverage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Route manager approval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38C5C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Update system and notify with audit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Benefits, payroll and case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Self-service is valuable when the agent knows when not to answer.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23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Self-service is valuable when the agent knows when not to answer.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Handle common policy questions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Retrieve authorised personal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Never expose another employee's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Escalate disputed or sensitive 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Offboarding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Offboarding requires coordination, access control and respectful communication.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Confirm final date and obligations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Trigger asset and access 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Capture knowledge-transfer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8C5C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Close only after owner confirmations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Agent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Test conversations, actions, permissions and recovery—not only happy-path answers.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Normal and ambiguous intents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Prompt injection and data exfiltration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Connector failures and duplicate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38C5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238C5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Escalation, rollback and audit completeness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7: Draft and Operate an HR Policy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Word Copilot to reconcile a controlled policy draft, then build an Agent Builder policy Q&amp;A agent that cites the approved version.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Hybrid-work and conduct guidance exists in conflicting files. HR repeatedly answers the same questions and managers sometimes apply outdated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Word with Microsoft 365 Copilot
• Agent Builder in Microsoft 365 Copilot
• SharePoint
• Teams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Conflict register and policy draft
• Agent instructions and knowledge map
• 12-case test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Policy owner approves meaning
• Answers cite effective policy
• Ambiguous and sensitive cases escalate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activity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7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8: Automate Leave Application and Approval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Build a Copilot Studio leave agent plus deterministic approval flow for validation, confirmation, update and notification.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Employees message leave dates to HR, which rekeys requests into a tracker and follows up with managers. Balance errors, overlaps and duplicate submissions create avoidable administration.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Microsoft Copilot Studio
• Agent flows or Power Automate
• Teams
• Excel or HRIS sandbox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Agent instructions
• Leave approval flow
• Audit log and exception test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Employee confirms before submission
• Manager owns exceptions
• Idempotency prevents duplicate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activity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8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9: Build a Benefits Self-Service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Design a benefits agent that answers grounded general questions, retrieves authorised status and escalates consequential or sensitive cases.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HR answers repetitive benefits questions by email and manually checks plan documents. Employees need fast information, but personal eligibility and claims require authenticated data and specialist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Microsoft Copilot Studio
• SharePoint
• Teams
• HRIS sandbox or mock connector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Benefits intent-and-risk catalogue
• Knowledge and tool design
• Privacy and regression test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38C5C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General answers cite approved plan documents
• Personal requests require authentication
• No medical, legal or final entitlement advice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activity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9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38C5C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Unit 3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Connect concept, evidence and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Key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Agent Builder for knowledge; Copilot Studio for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would make the recommendation reviewable?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Human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Who remains accountable?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Next move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will you test or change?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58368"/>
            <a:ext cx="18288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LEARNING UNIT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515600" cy="10972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3800" b="1">
                <a:solidFill>
                  <a:srgbClr val="0C2340"/>
                </a:solidFill>
                <a:latin typeface="Aptos"/>
              </a:rPr>
              <a:t>Responsible Adoption and HR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98755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0">
                <a:solidFill>
                  <a:srgbClr val="586576"/>
                </a:solidFill>
                <a:latin typeface="Aptos"/>
              </a:rPr>
              <a:t>Govern decisions, data, people and agent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FRAME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728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GENERATE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4160520"/>
            <a:ext cx="24231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586576"/>
                </a:solidFill>
                <a:latin typeface="Aptos"/>
              </a:rPr>
              <a:t>ORCHESTRATE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50808" y="4160520"/>
            <a:ext cx="2423160" cy="658368"/>
          </a:xfrm>
          <a:prstGeom prst="roundRect">
            <a:avLst/>
          </a:prstGeom>
          <a:solidFill>
            <a:srgbClr val="EE7E20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2248" y="4343400"/>
            <a:ext cx="22402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GOVERN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715000"/>
            <a:ext cx="987552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Concepts → evidence → activity → reflection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Why HR AI is high consequence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Employment decisions affect opportunity, income, dignity and trust.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Recruitment and promotion shape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Performance evidence can be incomplete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Employee data is sensitive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Power asymmetry raises consent concerns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Human involvement by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More consequential and less reversible decisions need stronger human authority.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Inform: AI drafts or retrieves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Recommend: AI proposes with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Approve: authorised human decides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Execute: agent acts only within approved bounds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From HR efficiency to enterprise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strongest human-AI partnerships deliver better workforce solutions, speed and business impact.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Workforce solutions become more personalised and responsive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Agile portfolio management reduces time from need to usable 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Administrative capacity shifts to strategic and business-facing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AI and technology fluency becomes a capability across HR, not an HRIS silo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Four implementation case vignettes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The supplied ebook illustrates value across recruitment, engagement, talent and performance.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Technology: screening and candidate chat; reported 30% faster hiring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Retail: feedback analysis; reported 20% lower turnover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Financial services: predictive talent and succession development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Healthcare: timely evidence for coaching and reviews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What successful implementations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Technology works when objectives, people, monitoring and cross-functional ownership reinforce one another.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Start with a clear employee or business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Involve employees early in design, testing and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Continuously monitor quality, bias, drift and unintended effects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Pair HR process ownership with IT, legal, security and data expertise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Privacy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Minimise data before asking a model to protect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Purpose and lawful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Minimum necessary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Access, retention and deletion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Incident and data-subject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Fair hiring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Selection criteria must remain job-related, reviewable and consistently applied.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Selection criteria must remain job-related, reviewable and consistently applied.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Fairly consider candidates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Exclude non-job-related protected traits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Keep interview and decision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Provide human challenge and correction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Bias is a system property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Bias can enter through objectives, data, prompts, tools and human 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Question proxy variables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Compare outcomes across relevant groups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Review false positives and negatives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Change process, not only the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Transparency and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Employees need to know when AI is used and how to seek help.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Disclose the AI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Show source and material factors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Explain limits and uncertainty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Provide an accessible human channel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Security and prompt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An agent can be manipulated through the text it reads.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Treat retrieved content as untrusted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Separate instructions from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Allow-list tools and destinations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Monitor anomalous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Agent identity and least privilege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Every action should be attributable to an authorised identity.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40280"/>
            <a:ext cx="3886200" cy="1371600"/>
          </a:xfrm>
          <a:prstGeom prst="roundRect">
            <a:avLst/>
          </a:prstGeom>
          <a:solidFill>
            <a:srgbClr val="F4F7FA"/>
          </a:solidFill>
          <a:ln>
            <a:solidFill>
              <a:srgbClr val="EE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487168"/>
            <a:ext cx="3429000" cy="8229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C2340"/>
                </a:solidFill>
                <a:latin typeface="Aptos"/>
              </a:rPr>
              <a:t>Every action should be attributable to an authorised identity.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Use named service or user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50876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Grant only required permissions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Separate maker, approver and operator roles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069080"/>
            <a:ext cx="297180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4297680"/>
            <a:ext cx="2578608" cy="6400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C2430"/>
                </a:solidFill>
                <a:latin typeface="Aptos"/>
              </a:rPr>
              <a:t>Review access and dormant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Operational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Agents are digital workers that need owners, logs, limits and retirement.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Named business and technical owners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Versioned instructions and knowledge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Run-time monitoring and kill switch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Periodic validation and decommissioning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Success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Measure service, adoption, quality, risk and human value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Cycle time and first-contact 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Accuracy and evidence completeness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Escalation and override rates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52928"/>
            <a:ext cx="36576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E7E2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475488" cy="47548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07792"/>
            <a:ext cx="1965960" cy="105156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Employee trust and time returned to people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86576"/>
                </a:solidFill>
                <a:latin typeface="Aptos"/>
              </a:rPr>
              <a:t>Design question  •  What evidence would make this safe enough for HR work?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Change and AI literacy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Adoption depends on role clarity and practical learning.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Explain what changes and what does not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Train prompting, review and escalation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Create champions and feedback loops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2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548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23359"/>
            <a:ext cx="3886200" cy="9601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Recognise new work: agent owner, tester, steward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Build HR's AI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HR needs literacy, ethical judgement, product thinking and change leadership to operate AI well.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Teach AI capabilities, limitations and evidence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Establish privacy, fairness and responsible-use guidelines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Create cross-functional teams for design and sustainment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Communicate role changes and build continuous learning into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90-day responsible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Move from a bounded pilot to an owned capability through evidence gates.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81328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64208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Days 1–30: baseline, risk and prototype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Days 31–60: test, controls and user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39312"/>
            <a:ext cx="1028700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22191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803904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Days 61–90: measured pilot and operating handover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18304"/>
            <a:ext cx="10287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01184"/>
            <a:ext cx="50292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E7E20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882896"/>
            <a:ext cx="896112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C2340"/>
                </a:solidFill>
                <a:latin typeface="Aptos"/>
              </a:rPr>
              <a:t>Scale only when value and control thresholds 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86576"/>
                </a:solidFill>
                <a:latin typeface="Aptos"/>
              </a:rPr>
              <a:t>Human accountability remains visible at every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10: Use AI for Workforce Wellness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Copilot to analyse aggregated wellness evidence, identify organisational questions and prepare human-led interventions.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HarbourLight has pulse surveys, absence patterns and workload data, but HR spends days combining them. Leaders want early signals without monitoring or diagnosing individuals.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Excel with Microsoft 365 Copilot
• Teams
• Word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Aggregated wellness dashboard brief
• Evidence-and-limitation log
• Human-led intervention proposal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Aggregate and minimise personal data
• No diagnosis or individual risk scoring
• Employees have a clear human support 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activity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10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11: Automate Safe Employee Offboarding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Design a Copilot Studio offboarding agent and controlled flow that reduces follow-up while preserving separation of duties and respectful communication.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A synthetic employee is leaving HarbourLight. HR currently coordinates payroll, assets, access, knowledge transfer and exit communication through separate emails, creating missed tasks and security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Microsoft Copilot Studio
• Power Automate or agent flows
• Teams
• SharePoint
• HRIS sandbox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Offboarding journey and RACI
• Tool and approval map
• Security, privacy and failure test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Confirmed exit event before action
• Separate HR, payroll, asset and access approvals
• Knowledge and personal data retention are purpose-limited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activity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11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C2340"/>
                </a:solidFill>
                <a:latin typeface="Aptos"/>
              </a:rPr>
              <a:t>Activity 12: Capstone: Operate the HR Agent Control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lifecycle, service, risk, adoption and human-value evidence to govern the full HR AI operating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2940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64208"/>
            <a:ext cx="12801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608076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HarbourLight now uses generative AI and agents across talent planning, hiring, onboarding, development, policy, leave, benefits, wellness and offboarding. Leaders must decide what to scale, remediate, pause or retire.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17320"/>
            <a:ext cx="4023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664208"/>
            <a:ext cx="13716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029968"/>
            <a:ext cx="34290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C2430"/>
                </a:solidFill>
                <a:latin typeface="Aptos"/>
              </a:rPr>
              <a:t>• Excel
• Teams
• Microsoft 365 Copilot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End-to-end HR AI service map
• Agent scorecard and incident response
• 90-day roadmap and executive recommendation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230368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50208"/>
            <a:ext cx="14630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E7E20"/>
                </a:solidFill>
                <a:latin typeface="Aptos"/>
              </a:rPr>
              <a:t>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43400"/>
            <a:ext cx="466344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C2430"/>
                </a:solidFill>
                <a:latin typeface="Aptos"/>
              </a:rPr>
              <a:t>• No scale without control thresholds
• Employee feedback included
• Named owner and retirement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07024"/>
            <a:ext cx="1078992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86576"/>
                </a:solidFill>
                <a:latin typeface="Aptos"/>
              </a:rPr>
              <a:t>Detailed procedure, prompts and evidence checklist: Learner Guide + activity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Activity 12 success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Show your reasoning—not only a polished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Use the supplied synthetic case and approved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State assumptions, criteria and the human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Save prompts, output, checks, revisions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54480"/>
            <a:ext cx="248716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828800"/>
            <a:ext cx="2057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EE7E20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487168"/>
            <a:ext cx="1965960" cy="1417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C2340"/>
                </a:solidFill>
                <a:latin typeface="Aptos"/>
              </a:rPr>
              <a:t>Pass the acceptance criteria and answer reflection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4315968"/>
            <a:ext cx="1627632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38C5C"/>
                </a:solidFill>
                <a:latin typeface="Aptos"/>
              </a:rPr>
              <a:t>✓ reviewable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4363E"/>
                </a:solidFill>
                <a:latin typeface="Aptos"/>
              </a:rPr>
              <a:t>Stop if the agent or Copilot output cannot be traced, corrected or safely escalated.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Unit 4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Connect concept, evidence and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Key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Govern decisions, data, people and agent 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would make the recommendation reviewable?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Human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Who remains accountable?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Next move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What will you test or change?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 balanced HR AI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Speed is useful only when quality, trust and control remain healthy.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55448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554480"/>
            <a:ext cx="3566160" cy="41605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9872" y="1828800"/>
            <a:ext cx="29260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38C5C"/>
                </a:solidFill>
                <a:latin typeface="Aptos"/>
              </a:rPr>
              <a:t>READ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9872" y="2331720"/>
            <a:ext cx="2880360" cy="25146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A lower cycle time cannot compensate for weak evidence, falling trust or missing approvals. Pair one value metric with at least one quality and one risk guardrail.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HR lifecycle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One operating system, many employee moments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Attract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Workforce planning, job design, recruitment and selection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Join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350008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Onboarding, access, policy and manager connection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8704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307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0649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Grow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828288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Performance, learning, mobility and engagement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298704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24307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20649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Serve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828288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Leave, benefits, payroll and employee relations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6532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72135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68477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Exit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306567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Offboarding, access, assets and knowledge transfer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446532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72135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71BC"/>
                </a:solidFill>
                <a:latin typeface="Apto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68477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Operate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5306567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Metrics, incidents, governance and retirement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23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The responsible-agent operating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Agents remain a managed organisational capability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1. Observe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Service, quality, adoption and risk signals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2.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350008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Human owner inspects evidence and exceptions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8704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4307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0649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3. Improve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828288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Update knowledge, instructions, tools or process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298704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24307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20649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4. 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828288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Regression, fairness, security and user testing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65320"/>
            <a:ext cx="5212080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72135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38C5C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68477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5.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306567"/>
            <a:ext cx="4160520" cy="30784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Scale, remediate, pause or retire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EE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Your 90-day pathway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Move through evidence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234696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Days 1–30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2346960" cy="32644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Baseline • use-case boundary • privacy/risk review • prototype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58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5880" y="1728216"/>
            <a:ext cx="234696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Days 31–60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5880" y="2350008"/>
            <a:ext cx="2346960" cy="32644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Test • human controls • user feedback • operating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9432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29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E7E20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2999" y="1728216"/>
            <a:ext cx="234696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Days 61–90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999" y="2350008"/>
            <a:ext cx="2346960" cy="32644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Measured pilot • incident rehearsal • scale decision • handover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Use AI to return HR capacity to people and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Reduce administration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Remove repetitive search, drafting, rekeying and follow-up.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28216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Improve productivity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350008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Deliver faster, more consistent and evidence-led HR 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Elevate HR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Redirect saved time to workforce strategy, coaching and employee care.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726179"/>
            <a:ext cx="5212080" cy="1988819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982211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945635"/>
            <a:ext cx="416052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Govern the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567427"/>
            <a:ext cx="4160520" cy="104698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Keep evidence, human authority, privacy and fairness visible.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C43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Assessment reminder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Demonstrate your own competence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363E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234696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Written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2346960" cy="32644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60 minutes • K1–K5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58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363E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5880" y="1728216"/>
            <a:ext cx="234696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Case Study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5880" y="2350008"/>
            <a:ext cx="2346960" cy="32644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60 minutes • A1–A5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9432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29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363E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2999" y="1728216"/>
            <a:ext cx="234696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Before submission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999" y="2350008"/>
            <a:ext cx="2346960" cy="32644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Answer every part • check evidence • protect confidentiality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Assessment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ON ASSESSMENT 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1874519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874519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16736" y="1993392"/>
            <a:ext cx="566928" cy="566928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6736" y="2148840"/>
            <a:ext cx="56692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971800"/>
            <a:ext cx="1545336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TRAQOM survey
on the 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788920"/>
            <a:ext cx="310896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71BC"/>
                </a:solidFill>
                <a:latin typeface="Aptos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572768"/>
            <a:ext cx="1874519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0360" y="1572768"/>
            <a:ext cx="1874519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38728" y="1993392"/>
            <a:ext cx="566928" cy="566928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2148840"/>
            <a:ext cx="56692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2971800"/>
            <a:ext cx="1545336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Assessment digital
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788920"/>
            <a:ext cx="310896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71BC"/>
                </a:solidFill>
                <a:latin typeface="Aptos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2352" y="1572768"/>
            <a:ext cx="1874519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572768"/>
            <a:ext cx="1874519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0" y="1993392"/>
            <a:ext cx="566928" cy="566928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148840"/>
            <a:ext cx="56692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4" y="2971800"/>
            <a:ext cx="1545336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Sit WA then
Case Study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4304" y="2788920"/>
            <a:ext cx="310896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71BC"/>
                </a:solidFill>
                <a:latin typeface="Aptos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24344" y="1572768"/>
            <a:ext cx="1874519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4344" y="1572768"/>
            <a:ext cx="1874519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82712" y="1993392"/>
            <a:ext cx="566928" cy="566928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82712" y="2148840"/>
            <a:ext cx="56692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8936" y="2971800"/>
            <a:ext cx="1545336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Submit answers
on the LMS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788920"/>
            <a:ext cx="310896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71BC"/>
                </a:solidFill>
                <a:latin typeface="Aptos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46336" y="1572768"/>
            <a:ext cx="1874519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46336" y="1572768"/>
            <a:ext cx="1874519" cy="7315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04704" y="1993392"/>
            <a:ext cx="566928" cy="566928"/>
          </a:xfrm>
          <a:prstGeom prst="ellipse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04704" y="2148840"/>
            <a:ext cx="566928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0928" y="2971800"/>
            <a:ext cx="1545336" cy="10058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Sign Assessment
Summary Record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07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Digital Attendance (Mandatory)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TRAQOM · SSG DIGITAL ATTENDANCE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52728"/>
            <a:ext cx="10881360" cy="18288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241280" cy="43891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C2430"/>
                </a:solidFill>
                <a:latin typeface="Aptos"/>
              </a:defRPr>
            </a:pPr>
            <a:r>
              <a:t>•  It is mandatory to take the AM, PM and Assessment digital attendance for WSQ-funded courses.</a:t>
            </a:r>
          </a:p>
          <a:p>
            <a:pPr>
              <a:spcAft>
                <a:spcPts val="1200"/>
              </a:spcAft>
              <a:defRPr sz="1700">
                <a:solidFill>
                  <a:srgbClr val="1C2430"/>
                </a:solidFill>
                <a:latin typeface="Aptos"/>
              </a:defRPr>
            </a:pPr>
            <a:r>
              <a:t>•  The trainer or administrator displays the digital-attendance QR code from the SSG portal.</a:t>
            </a:r>
          </a:p>
          <a:p>
            <a:pPr>
              <a:spcAft>
                <a:spcPts val="1200"/>
              </a:spcAft>
              <a:defRPr sz="1700">
                <a:solidFill>
                  <a:srgbClr val="1C2430"/>
                </a:solidFill>
                <a:latin typeface="Aptos"/>
              </a:defRPr>
            </a:pPr>
            <a:r>
              <a:t>•  Scan the QR code with your mobile phone camera and submit your attendance.</a:t>
            </a:r>
          </a:p>
          <a:p>
            <a:pPr>
              <a:spcAft>
                <a:spcPts val="1200"/>
              </a:spcAft>
              <a:defRPr sz="1700">
                <a:solidFill>
                  <a:srgbClr val="1C2430"/>
                </a:solidFill>
                <a:latin typeface="Aptos"/>
              </a:defRPr>
            </a:pPr>
            <a:r>
              <a:t>•  A minimum of 75% attendance is required to be eligible for assessment and funding.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73152" cy="62179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2340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88136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86576"/>
                </a:solidFill>
                <a:latin typeface="Aptos"/>
              </a:rPr>
              <a:t>Design HR AI that gives people better service and humans better judgement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28216"/>
            <a:ext cx="234696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50008"/>
            <a:ext cx="2346960" cy="32644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Agentic AI for HR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580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5880" y="1728216"/>
            <a:ext cx="234696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5880" y="2350008"/>
            <a:ext cx="2346960" cy="32644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TGS-2024045795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94320" y="1508760"/>
            <a:ext cx="3398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2920" y="1764792"/>
            <a:ext cx="50292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2999" y="1728216"/>
            <a:ext cx="2346960" cy="6217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Resources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999" y="2350008"/>
            <a:ext cx="2346960" cy="32644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86576"/>
                </a:solidFill>
                <a:latin typeface="Aptos"/>
              </a:rPr>
              <a:t>LMS/TMS course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384048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586576"/>
                </a:solidFill>
                <a:latin typeface="Aptos"/>
              </a:rPr>
              <a:t>TGS-2024045795  |  Agentic AI for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6510528"/>
            <a:ext cx="352044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586576"/>
                </a:solidFill>
                <a:latin typeface="Aptos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586576"/>
                </a:solidFill>
                <a:latin typeface="Aptos"/>
              </a:rPr>
              <a:t>118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