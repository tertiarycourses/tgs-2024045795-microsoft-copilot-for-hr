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CB8C4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72</c:v>
                </c:pt>
                <c:pt idx="2">
                  <c:v>35</c:v>
                </c:pt>
                <c:pt idx="3">
                  <c:v>68</c:v>
                </c:pt>
                <c:pt idx="4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 target</c:v>
                </c:pt>
              </c:strCache>
            </c:strRef>
          </c:tx>
          <c:spPr>
            <a:solidFill>
              <a:srgbClr val="238C5C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90</c:v>
                </c:pt>
                <c:pt idx="2">
                  <c:v>65</c:v>
                </c:pt>
                <c:pt idx="3">
                  <c:v>80</c:v>
                </c:pt>
                <c:pt idx="4">
                  <c:v>92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https://www.tertiarycourses.com.sg/wsq-agentic-ai-for-hr.html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https://www.hrci.org/community/blogs-and-announcements/hr-leads-business-blog/hr-leads-business/2025/08/21/agentic-ai-in-hr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https://www.ibm.com/think/topics/ai-in-hr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https://www.auxis.com/ai-in-hr-examples-types-use-cases-best-practices/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https://github.com/tertiarycourses/TGS-2024045795-Agentic-AI-for-HR/tree/master/activities/Activity-01-hr-ai-opportunity-map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https://github.com/tertiarycourses/TGS-2024045795-Agentic-AI-for-HR/tree/master/activities/Activity-01-hr-ai-opportunity-map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https://github.com/tertiarycourses/TGS-2024045795-Agentic-AI-for-HR/tree/master/activities/Activity-02-workforce-plan-job-design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https://github.com/tertiarycourses/TGS-2024045795-Agentic-AI-for-HR/tree/master/activities/Activity-02-workforce-plan-job-design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https://github.com/tertiarycourses/TGS-2024045795-Agentic-AI-for-HR/tree/master/activities/Activity-03-governed-pilot-charter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https://github.com/tertiarycourses/TGS-2024045795-Agentic-AI-for-HR/tree/master/activities/Activity-03-governed-pilot-charter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https://github.com/tertiarycourses/TGS-2024045795-Agentic-AI-for-HR/tree/master/activities/Activity-04-fair-resume-screening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https://github.com/tertiarycourses/TGS-2024045795-Agentic-AI-for-HR/tree/master/activities/Activity-04-fair-resume-screening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https://github.com/tertiarycourses/TGS-2024045795-Agentic-AI-for-HR/tree/master/activities/Activity-05-policy-drafting-governance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https://github.com/tertiarycourses/TGS-2024045795-Agentic-AI-for-HR/tree/master/activities/Activity-05-policy-drafting-governance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https://github.com/tertiarycourses/TGS-2024045795-Agentic-AI-for-HR/tree/master/activities/Activity-06-personalised-onboarding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https://github.com/tertiarycourses/TGS-2024045795-Agentic-AI-for-HR/tree/master/activities/Activity-06-personalised-onboarding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https://www.microsoft.com/en-us/microsoft-copilot/blog/copilot-studio/transform-hr-with-ai-powered-agents/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https://adoption.microsoft.com/en-us/ai-agents/employee-self-service-agent/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https://www.zendesk.com/blog/ai/workflow-automation/ai-in-hr/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https://github.com/tertiarycourses/TGS-2024045795-Agentic-AI-for-HR/tree/master/activities/Activity-08-onboarding-agent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https://github.com/tertiarycourses/TGS-2024045795-Agentic-AI-for-HR/tree/master/activities/Activity-08-onboarding-agent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https://github.com/tertiarycourses/TGS-2024045795-Agentic-AI-for-HR/tree/master/activities/Activity-09-leave-agent-flow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https://github.com/tertiarycourses/TGS-2024045795-Agentic-AI-for-HR/tree/master/activities/Activity-09-leave-agent-flow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https://www.mom.gov.sg/employment-practices/fair-consideration-framework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https://www.hrci.org/community/blogs-and-announcements/hr-leads-business-blog/hr-leads-business/2025/08/21/agentic-ai-in-hr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https://github.com/tertiarycourses/TGS-2024045795-Agentic-AI-for-HR/tree/master/activities/Activity-10-performance-learning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https://github.com/tertiarycourses/TGS-2024045795-Agentic-AI-for-HR/tree/master/activities/Activity-10-performance-learning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https://github.com/tertiarycourses/TGS-2024045795-Agentic-AI-for-HR/tree/master/activities/Activity-11-employee-service-offboarding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https://github.com/tertiarycourses/TGS-2024045795-Agentic-AI-for-HR/tree/master/activities/Activity-11-employee-service-offboarding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5212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WSQ • HUMAN RESOURCE DIGITALISATION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5303520" cy="1463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4000" b="1">
                <a:solidFill>
                  <a:srgbClr val="0C2340"/>
                </a:solidFill>
                <a:latin typeface="Aptos"/>
              </a:rPr>
              <a:t>Agentic AI for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4846320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C2430"/>
                </a:solidFill>
                <a:latin typeface="Aptos"/>
              </a:rPr>
              <a:t>Design human-centred Copilot experiences and governed HR agents across the employee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977639"/>
            <a:ext cx="475488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9663"/>
            <a:ext cx="4297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1BC"/>
                </a:solidFill>
                <a:latin typeface="Aptos"/>
              </a:rPr>
              <a:t>TGS-2024045795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42976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2 days / 16 hours  •  Human Resource Digitalisation-4 (HRS-HRM-4031-1.1)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63056"/>
            <a:ext cx="5120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Tertiary Infotech Academy  |  Version 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Complete the attendance check when directed by your trainer.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Digital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Scan the trainer-provided QR code at the required checkpoints.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General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Course purpose, adult-learning approach and safe practice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Lead trainer • AI transformation, analytics and responsible adoption.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Trainer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Learn with practical HR cases and governed Microsoft AI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Digital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Scan the trainer-provided QR code at the required checkpoints.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General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Course purpose, adult-learning approach and safe practice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Lead trainer • AI transformation, analytics and responsible adoption.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Facilitator for your two-day learning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Digital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Scan the trainer-provided QR code at the required checkpoints.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General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Course purpose, adult-learning approach and safe practice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Lead trainer • AI transformation, analytics and responsible adoption.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Learner introductions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experience to the cases we will solve.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Digital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Scan the trainer-provided QR code at the required checkpoints.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General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Course purpose, adult-learning approach and safe practice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Lead trainer • AI transformation, analytics and responsible adoption.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Meet the learning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Role, HR challenge, Microsoft 365 experience and one question you want answered.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agreements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Build a safe, inclusive and evidence-led learning 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Digital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Scan the trainer-provided QR code at the required checkpoints.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General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Course purpose, adult-learning approach and safe practice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Lead trainer • AI transformation, analytics and responsible adoption.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Course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Four connected learning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By the end of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LO1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Compare how generative and agentic AI reshape HR operating models versus conventional HR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LO2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Analyse where Microsoft 365 Copilot and AI agents can improve end-to-end HR processes and employee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LO3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Conduct feasibility analysis and design a governed implementation for an HR generative-AI or agentic-AI use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LO4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Apply legal, ethical, privacy, security, fairness and human-oversight controls to AI-enabled HR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Technical Skills and Competencies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Human Resource Digitalisation-4 (HRS-HRM-4031-1.1)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Generative AI, agentic AI and HR digitalisation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Use-case analysis, feasibility, agent design and responsible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Prompts, outputs, checks, decisions and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Day 1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Frame and generate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HR AI continuum • operating model • opportunity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Activities 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Portfolio, workforce plan and pilot charter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Afternoon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Recruitment, policy, onboarding with Microsoft 365 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Activities 4–6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Evidence matrix, policy update and onboarding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Day 2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Orchestrate and govern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 Builder and Copilot Studio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Activities 7–9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Policy, onboarding and leave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Afternoon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Responsible adoption and agent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Written Assessment + Case Study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Two individual instruments • 60 minutes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Five open-response questions mapped to K1–K5.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Case Study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Five applied questions mapped to A1–A5.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Competency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Answer every question and meet the stated evidence requirements.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 only resources permitted by the assessor; submit your own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→ plan → answer → verify → 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1.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Identify the action verb and required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2.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Allocate time and structure the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3.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Apply course concepts to the question or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4.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Check completeness, clarity and source boundaries.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135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5.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5112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Follow assessor instructions and retain confidentiality.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Funding and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Follow the trainer and academy instructions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Complete required digital check-ins.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Attempt both assessment instruments.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 your own name and candidate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Raise access or accommodation needs early.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Everything needed for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Visual concepts and activity briefs.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Learner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Detailed procedures, prompts and reflection.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Activity folders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Synthetic cases, workbooks, test data and checklists.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https://github.com/tertiarycourses/TGS-2024045795-Agentic-AI-for-HR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Access the activity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Download or clone before hands-on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https://github.com/tertiarycourses/TGS-2024045795-Agentic-AI-for-HR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Code → Download ZIP, then extract locally.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Locate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Open the numbered activities folder.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Protect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 only the synthetic learner files; never upload live employee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LEARNING 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HR AI continuum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Automation follows rules; copilots create; agents pursue bounded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Rules automate predictable hand-offs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Microsoft 365 Copilot drafts, summarises and analyses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Agents reason, plan, use tools and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Humans retain 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Conventional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Queues and hand-offs make service slow and opaque.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Requests arrive through email and 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Specialists search systems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Approvals cross organisational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Evidence is scattered across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Copilot-assisted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human remains the operator while Copilot accelerates knowledge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 human remains the operator while Copilot accelerates knowledge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Ground prompts in approved work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Generate a first draft, not a final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Compare and refine with domain 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Record source and 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Agent-enabled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coordinate a bounded workflow across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Interpret an employee intent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Retrieve policy and contextual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Call approved tools and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Escalate exceptions with an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Assistant, agent or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the simplest lever that meets the outcome and risk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Copilot: create or analyse with a 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Agent: converse, reason and orchestrate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Flow: deterministic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Hybrid: agent front door plus governed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Microsoft HR AI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Microsoft 365 Copilot and Copilot Studio play different but complementary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Word and Outlook: content and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Excel: evidence and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Teams and SharePoint: collaboration and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Copilot Studio: agents, tools, flows and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Reliable agents need a goal, knowledge, instructions, tools, boundaries and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Reliable agents need a goal, knowledge, instructions, tools, boundaries and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Goal defines the employee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Knowledge constrains grounded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Instructions set behaviour and refusal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Tools act; tests prove expected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value appears across attract, join, grow, serve and exit.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Attract: workforce planning and recruitment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Join: onboarding and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Grow: performance, learning and mobility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Serve and exit: policy, leave, cases and offboarding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Value without losing the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Saved time should be redirected to judgement, coaching and care.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Reduce repetitive search and drafting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Improve access and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Create capacity for human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Do not automate empathy or 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Use-case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Start with frequent, bounded and measurable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High volume and clear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Reliable knowledge and integrations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Reversible actions and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 KPI baseline and accountable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Feasibility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good idea is not yet a deployable use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 good idea is not yet a deployable use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Business value and employee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Data readiness and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Technical reach and failure modes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Risk, change and operating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From pilot to operating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pilot must prove usefulness, control and adoption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Define baseline and success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Use synthetic data before live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Test normal, edge and adversarial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Assign monitoring, review and retirement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1: Map the HR AI Opportunity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Classify HR work across automation, Microsoft 365 Copilot and agentic AI, then select one bounded 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Logistics SG has 620 employees, a five-person HR team and rising service backlogs. The CHRO wants a defendable starting portfolio—not a list of fashionable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Teams
•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Completed opportunity-and-risk matrix
• Two-minute pilot recommendation
• Evidence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No employee personal data
• State all assumptions
• Human owner for every shortlisted 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2: Design a Skills-Based Workforce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synthesise demand evidence and draft a skills-based, fair job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is opening a digitally enabled distribution hub. HR must decide whether to hire, redeploy or develop people for a new Workforce Operations Analyst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Word with Microsoft 365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Workforce hypothesis
• Skills gap table
• Inclusive job 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Separate evidence from assumption
• No age, nationality or other non-job-related criteria
• Hiring manager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3: Write the Governed HR AI Pilot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Convert an opportunity into a testable pilot charter with go/no-go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The executive committee will fund only one 90-day HR AI pilot. It expects a clear value case, human controls and an operating owner.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Pilot charter
• RACI
• Metric baseline and gate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Synthetic or de-identified pilot data
• Named risk owner
• Kill switch and 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3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1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LEARNING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grounded prompt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Context plus task plus constraints plus evidence produces reviewable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Role and 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Specific task and desired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Approved sources and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Output format and verification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Workforce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turn fragmented evidence into an explainable workforce hypothesis.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Summarise demand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Identify capability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Draft role and capacity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Keep assumptions visible for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Job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Translate business need into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essential from trainable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inclusive, job-related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Validate with hiring manager and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Recruitment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adapt one approved proposition across channels without changing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Candidate persona and 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Channel-specific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Consistent salary and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approval before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should organise job-related evidence—not make an opaque hiring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Build a disclosed scoring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Extract evidence, uncertainty and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Blind protected attributes where feasible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 human reviews every shortlist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Structured interviewing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shared evidence model improves consistency more than clever questions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Behavioural questions tied to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Anchored scoring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Independent notes before consensus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Candidate accessibility and fairness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Candidate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Personalise only from approved 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Avoid inferred sensitive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Give realistic next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Review tone, accuracy and confidentiality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Policy drafting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accelerates comparison and drafting; policy owners approve meaning.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 in current policy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Surface conflicts and missing definitions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Use plain-language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Preserve version, approver and effective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personalised journey connects role, people, policy, systems and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Prepare a role-specific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Summarise must-know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Identify collaboration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Track access, milestones and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Performance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organise evidence and coaching preparation without replacing the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Summarise agreed goals and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Separate observation from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Draft balanced coaching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Manager validates before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and internal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Skills intelligence becomes useful when employees can challenge and update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Skills intelligence becomes useful when employees can challenge and update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Map role outcomes to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Recommend explainable learning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Support career conversations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Avoid deterministic potential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Engagement and workforce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Patterns guide questions; they do not diagnose individuals.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Aggregate data to protect 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Triangulate survey, service and retention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Show uncertainty and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Convert insight into a human-led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4: Build a Fair Resume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extract job-related evidence and prepare a human-reviewed shortlist.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received six synthetic applications for the Workforce Operations Analyst role. The hiring manager wants a fast shortlist without an opaque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Evidence matrix
• Uncertainty log
• Human shortlist rationale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Synthetic resumes only
• Protected attributes excluded
• AI cannot reject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4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5: Draft and Govern an HR Policy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Word Copilot to compare sources and prepare a controlled policy draft plus communication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Hybrid-work guidance exists in three conflicting documents. Employees receive inconsistent answers and managers are applying different approval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SharePoint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Conflict register
• Policy draft
• Approval and communication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Only approved source documents
• Policy owner signs off
• Effective date and superseded versions 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5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6: Create a Personalised Onboarding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prepare role-based onboarding plans, communications and learning prompts.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Three new employees join the distribution hub in different roles and locations. HR needs a consistent core journey with role-specific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Teams
• Word and Outlook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30-day onboarding plans
• Welcome communications
• Milestone and owner tracker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Use only approved role and policy data
• Do not infer personal needs
• New joiner can request adjustments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6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2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LEARNING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Choose the build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Builder is fast for team knowledge; Copilot Studio supports broader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Agent Builder: focused Q&amp;A and team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Copilot Studio: tools, flows, channels and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Copy an agent to extend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Licensing and governance remain design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Builder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useful team agent has a narrow purpose and authoritative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Name the audience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Ground in selected SharePoint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Add response and refusal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Share only with intended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 Studio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Topic or generative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Approved knowledge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Actions and connectors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Authentication, analytics and 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Knowledge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answer should be traceable to the current approved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Curate source ownership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Remove obsolete duplicates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Respect permissions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Return citation, effective date and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Instructions and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instructions are an operating policy, not marketing copy.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Define in-scope intents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prohibited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Specify clarification and 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Require confirmation before consequential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Tools and agent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Tools convert a conversation into work; flows make critical actions deterministic.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Use least-privilege connectors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Validate inputs before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Add human approval for consequential 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Write outcome and error to an audit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policy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policy agent should answer, cite, qualify and escalate.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 policy agent should answer, cite, qualify and escalate.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Recognise the employee intent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Retrieve the exact current clause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Explain in plain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Escalate ambiguity or personal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onboarding agent coordinates milestones without inventing employment commitments.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Personalise from approved role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Trigger task owners and reminders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Track exceptions and access blockers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Route sensitive questions to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Leave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gathers intent; a governed workflow validates and records the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Check balance and policy eligibility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Confirm dates and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Route manager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Update system and notify with audit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Benefits, payroll and case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Self-service is valuable when the agent knows when not to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Handle common policy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Retrieve authorised personal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Never expose another employee's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Escalate disputed or sensitive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Offboarding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Offboarding requires coordination, access control and respectful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Offboarding requires coordination, access control and respectful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Confirm final date and obligations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Trigger asset and access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Capture knowledge-transfer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Close only after owner confirmations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conversations, actions, permissions and recovery—not only happy-path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Normal and ambiguous intents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Prompt injection and data exfiltration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Connector failures and duplicate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Escalation, rollback and audit completeness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7: Build an HR Policy Q&amp;A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Create a bounded policy agent in Agent Builder for Microsoft 365 Copilot and test grounded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Employees ask repetitive hybrid-work and benefits questions in Teams. HR needs a reliable self-service front door that cites policy and escalates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Agent Builder in Microsoft 365 Copilot
• SharePoint
•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Agent purpose and instructions
• Knowledge map
• 12-case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Cite approved policy
• No personalised entitlement decisions
• Escalate ambiguity and sensitive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7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8: Design an Onboarding Coordination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agent that coordinates onboarding while retaining accountable task owners.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New joiners miss equipment, access and manager check-ins because work is spread across email, service tickets and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Teams
• SharePoint
• Power Automate or agent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Conversation map
• Tool and approval design
• Test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Least-privilege connectors
• No invented commitments
• Human owner confirms every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8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9: Build a Leave Request Agent and Approval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agent plus deterministic flow for eligibility, approval, update and notification.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Employees submit leave through messages that HR rekeys into a tracker. Errors occur around balance, overlapping dates and manager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Agent flows or Power Automate
• Teams
• Excel or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Agent instructions
• Flow design
• Approval matrix
• Audit log and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Confirm before submission
• Manager approves exceptions
• Idempotency prevents 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9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3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LEARNING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Why HR AI is high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Employment decisions affect opportunity, income, dignity and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Recruitment and promotion shape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Performance evidence can be incomplete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Employee data is 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Power asymmetry raises consent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Human involvement by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More consequential and less reversible decisions need stronger human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Inform: AI drafts or retrieves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Recommend: AI proposes with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Approve: authorised human decides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Execute: agent acts only within approved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Minimise data before asking a model to protect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Minimise data before asking a model to protect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Purpose and lawful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Minimum necessary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Access, retention and deletion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Incident and data-subject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Fair hiring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Selection criteria must remain job-related, reviewable and consistently applied.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Fairly consider candidates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Exclude non-job-related protected traits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Keep interview and decision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Provide human challenge and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Bias is a system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Bias can enter through objectives, data, prompts, tools and human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Question proxy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Compare outcomes across relevant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Review false positives and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Change process, not only the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Transparency and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Employees need to know when AI is used and how to seek help.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Disclose the AI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Show source and material factors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Explain limits and uncertainty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Provide an accessible human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Security and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be manipulated through the text it reads.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agent can be manipulated through the text it reads.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Treat retrieved content as untrusted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instructions from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Allow-list tools and destinations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Monitor anomalous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identity and 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Every action should be attributable to an authorised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Use named service or user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Grant only required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Separate maker, approver and operator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Review access and dormant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are digital workers that need owners, logs, limits and retirement.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Named business and technical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Versioned instructions and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Run-time monitoring and kill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Periodic validation and decommissioning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Measure service, adoption, quality, risk and human value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Cycle time and first-contact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Accuracy and evidence completeness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Escalation and override rates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Employee trust and time returned to 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Change and AI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Adoption depends on role clarity and practical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Adoption depends on role clarity and practical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Explain what changes and what does not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Train prompting, review and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Create champions and feedback loops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Recognise new work: agent owner, tester, steward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90-day responsible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from a bounded pilot to an owned capability through evidence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1–30: baseline, risk and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31–60: test, controls and user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61–90: measured pilot and operating handover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Scale only when value and control thresholds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10: Prepare a Fair Performance and Learning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organise evidence, distinguish observation from inference and prepare human-led coaching.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 manager has fragmented notes, goals and service metrics for two employees and wants Copilot to draft development conversations.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and Teams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Evidence summary
• Coaching questions
• Learning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No personality inference
• Employee can correct evidence
• Manager owns the conversation and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10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11: Design Safe Employee Service and Offboarding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Define privacy-aware routing, escalation and least-privilege actions across sensitive HR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HR wants one conversational front door for benefits, payroll status, employee-relations triage and offboarding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Teams
• SharePoint
•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Intent-and-risk catalogue
• Escalation matrix
• Offboarding control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Authenticate personal requests
• No legal or clinical advice
• Separation of duties for access removal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12: Capstone: Operate the HR Agent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service, risk, adoption and human-value evidence to make a defensible operating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HarbourLight's pilot portfolio now includes policy, onboarding and leave agents. Leaders must decide whether to scale, remediate or stop each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
• Teams
• Microsoft 365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Agent scorecard
• Incident response
• 90-day roadmap and executive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No scale without control thresholds
• Employee feedback included
• Named owner and retirement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4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balanced HR AI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Speed is useful only when quality, trust and control remain healthy.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55448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54480"/>
            <a:ext cx="356616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828800"/>
            <a:ext cx="2926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READ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9872" y="2331720"/>
            <a:ext cx="2880360" cy="2514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 lower cycle time cannot compensate for weak evidence, falling trust or missing approvals. Pair one value metric with at least one quality and one risk guardrail.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One operating system, many employee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Attract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Workforce planning, job design, recruitment and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Onboarding, access, policy and manager 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Performance, learning, mobility and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Leave, benefits, payroll and employee relations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135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5112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Offboarding, access, assets and knowledge transfer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72135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Operate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15112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Metrics, incidents, governance and retirement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responsible-agent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remain a managed organisational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1.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Service, quality, adoption and risk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2.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Human owner inspects evidence and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3.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Update knowledge, instructions, tools or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4.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Regression, fairness, security and user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135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5.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5112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Scale, remediate, pause or retire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Your 90-day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through evidence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1–30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Baseline • use-case boundary • privacy/risk review •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31–60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Test • human controls • user feedback • operating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Measured pilot • incident rehearsal • scale decision •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Create with Copilot • orchestrate with agents • govern as HR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 the lightest sufficient capability.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0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 authoritative knowledge and job-related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Keep human authority for consequential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1100" y="1508760"/>
            <a:ext cx="24917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780" y="1764792"/>
            <a:ext cx="14401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Operate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9780" y="2194560"/>
            <a:ext cx="144018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Measure value, quality, trust and risk together.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Demonstrate your own competence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60 minutes • K1–K5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Case Study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60 minutes • A1–A5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Answer every part • check evidence • protect confidentiality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→ plan → answer → verify → 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Underline the command 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6479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 time deliberately.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Apply course concepts.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4307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7284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Check completeness and clarity.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1352"/>
            <a:ext cx="41605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51120"/>
            <a:ext cx="4160520" cy="42671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Follow assessor directions.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Complete the final attendance check when directed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Use the correct session and learner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Confirm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Wait for the successful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Tell the trainer immediately if the check fails.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HR AI that gives people better service and humans better judgement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Agentic AI for 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TGS-2024045795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64792"/>
            <a:ext cx="23469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194560"/>
            <a:ext cx="2346960" cy="33832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https://github.com/tertiarycourses/TGS-2024045795-Agentic-AI-for-HR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